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</p:sldMasterIdLst>
  <p:notesMasterIdLst>
    <p:notesMasterId r:id="rId17"/>
  </p:notesMasterIdLst>
  <p:handoutMasterIdLst>
    <p:handoutMasterId r:id="rId18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59465E-C539-4F37-9E8F-D92D70CC6783}" v="1675" dt="2026-07-06T20:53:30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 autoAdjust="0"/>
    <p:restoredTop sz="94660"/>
  </p:normalViewPr>
  <p:slideViewPr>
    <p:cSldViewPr>
      <p:cViewPr>
        <p:scale>
          <a:sx n="100" d="100"/>
          <a:sy n="100" d="100"/>
        </p:scale>
        <p:origin x="-874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5060"/>
    </p:cViewPr>
  </p:sorterViewPr>
  <p:notesViewPr>
    <p:cSldViewPr>
      <p:cViewPr varScale="1">
        <p:scale>
          <a:sx n="56" d="100"/>
          <a:sy n="56" d="100"/>
        </p:scale>
        <p:origin x="258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60F52A-4F58-F017-0262-5B2BF7D8F8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8E448-B046-A1A0-4122-41C821F0D7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1D12F-6C60-40C1-A1CF-FB45A9E21995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8D698-9DD0-64A1-A2F2-327C6B5D01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8D0A9-5B9F-4BD0-30B3-5121EE6CA4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0A9AC-5CC8-44DE-853D-C60213001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19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3" y="4592116"/>
            <a:ext cx="10872216" cy="97614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1" y="5971761"/>
            <a:ext cx="10872217" cy="33628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9C8A7-72AC-0719-E46F-68CFF8D5F3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A28C-4307-6E8D-E3C0-B0F65FE462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06B8-E88E-0500-3055-3E24279A65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3" y="1260124"/>
            <a:ext cx="10872216" cy="30120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21116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0CABD-2C3E-3981-7474-14066C60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EF4C9-A376-49B1-2605-259BE261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F5E17-B569-458A-61B5-EBD7257A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3152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5432" y="1260123"/>
            <a:ext cx="4639056" cy="333199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5430" y="5276167"/>
            <a:ext cx="4639057" cy="100401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E9EE4A5-77BA-B98A-B7C9-E73454ECB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044E3-8B6D-8A14-DF79-CAB3CCD720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5ABF2A6-C99B-8F4B-07CD-C27BE4C33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C49802C6-10E7-4049-A420-490D82DD2D49}" type="datetime1">
              <a:rPr lang="en-US" smtClean="0"/>
              <a:t>7/6/2026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7511" y="1260122"/>
            <a:ext cx="5897881" cy="5020057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2172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4216" y="1260124"/>
            <a:ext cx="3700272" cy="299680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4216" y="4576885"/>
            <a:ext cx="3700273" cy="17032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998A4B6-1ED2-0175-5171-79D752A4B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DA747-225E-C3D7-9B45-5A82A81437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06E5107-A554-D167-5D26-04303F099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F55ADCF-3664-4479-8ED8-BAA5E6653B62}" type="datetime1">
              <a:rPr lang="en-US" smtClean="0"/>
              <a:t>7/6/2026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7512" y="1260122"/>
            <a:ext cx="6780009" cy="5020057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46508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1872"/>
            <a:ext cx="5897880" cy="29962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0" y="4592115"/>
            <a:ext cx="5897882" cy="168806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2E398B4-AE63-C902-83C3-1A4A85D8B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AAA3B-0D59-4204-802D-5471962CF6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31F4DFA-B85C-EFE8-48B9-F27537048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CECF7E77-8611-47D0-A92F-5C18E9C5DC54}" type="datetime1">
              <a:rPr lang="en-US" smtClean="0"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5432" y="1261872"/>
            <a:ext cx="4654296" cy="5018306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45355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0C5601D-25D6-0852-460F-4F5EDDCA527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650748 w 12192000"/>
              <a:gd name="csY0" fmla="*/ 557784 h 6858000"/>
              <a:gd name="csX1" fmla="*/ 650748 w 12192000"/>
              <a:gd name="csY1" fmla="*/ 566928 h 6858000"/>
              <a:gd name="csX2" fmla="*/ 11541252 w 12192000"/>
              <a:gd name="csY2" fmla="*/ 566928 h 6858000"/>
              <a:gd name="csX3" fmla="*/ 11541252 w 12192000"/>
              <a:gd name="csY3" fmla="*/ 557784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650748" y="557784"/>
                </a:moveTo>
                <a:lnTo>
                  <a:pt x="650748" y="566928"/>
                </a:lnTo>
                <a:lnTo>
                  <a:pt x="11541252" y="566928"/>
                </a:lnTo>
                <a:lnTo>
                  <a:pt x="11541252" y="5577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29000"/>
            <a:ext cx="12192000" cy="2159828"/>
          </a:xfrm>
          <a:gradFill flip="none" rotWithShape="1">
            <a:gsLst>
              <a:gs pos="0">
                <a:schemeClr val="bg2">
                  <a:alpha val="50000"/>
                </a:schemeClr>
              </a:gs>
              <a:gs pos="100000">
                <a:schemeClr val="bg2">
                  <a:alpha val="0"/>
                </a:schemeClr>
              </a:gs>
            </a:gsLst>
            <a:lin ang="16200000" scaled="1"/>
            <a:tileRect/>
          </a:gradFill>
        </p:spPr>
        <p:txBody>
          <a:bodyPr vert="horz" lIns="777240" tIns="45720" rIns="228600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DADE99-E3CE-8A7B-349A-714ACCF25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586478"/>
            <a:ext cx="12192000" cy="1271522"/>
          </a:xfrm>
          <a:solidFill>
            <a:schemeClr val="bg2">
              <a:alpha val="50000"/>
            </a:schemeClr>
          </a:solidFill>
        </p:spPr>
        <p:txBody>
          <a:bodyPr vert="horz" lIns="777240" tIns="45720" rIns="228600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2E398B4-AE63-C902-83C3-1A4A85D8B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08CFED4-8CC8-E28A-89D6-61226616DE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31F4DFA-B85C-EFE8-48B9-F27537048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6E56145-139A-45B3-88FA-F743CAE4E319}" type="datetime1">
              <a:rPr lang="en-US" smtClean="0"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8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0124"/>
            <a:ext cx="9643872" cy="40160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754" y="5586478"/>
            <a:ext cx="9633390" cy="68405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57C6A260-43E4-A5BD-9313-44FB4C8FD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2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1631E-53EB-24F5-F76E-4F04521F6D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56155AC-04E0-CB97-F010-9D55F5F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fld id="{817601D0-08EE-4682-8251-778D57A7E59F}" type="datetime1">
              <a:rPr lang="en-US" smtClean="0"/>
              <a:t>7/6/2026</a:t>
            </a:fld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728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0124"/>
            <a:ext cx="9613392" cy="29780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5596127"/>
            <a:ext cx="7272528" cy="6840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CE12327-0DBC-89BC-C60D-F10DD6C51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783AD-1C4D-25CE-23D9-0E1ABAF2680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079EBF4-5BB8-6610-5CA9-9590C73BE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06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92" y="1260123"/>
            <a:ext cx="10872216" cy="3012032"/>
          </a:xfr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592115"/>
            <a:ext cx="7588155" cy="16880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AFE07ED-31D7-7A85-4532-82403B99B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F8273-94AD-6BE6-8CBB-845CAE6B0C3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B0BDEA6-A6F0-73B8-F39C-CD7566F66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BDCAF013-27A5-43A7-9ADC-F67B09F12BCD}" type="datetime1">
              <a:rPr lang="en-US" smtClean="0"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43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512" y="1417671"/>
            <a:ext cx="7909560" cy="49069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DA50637-A622-7C30-4294-5F1922E28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2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5AD4B1-7C0F-72F1-2A34-6A72E98A14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743094F-E5D5-33D5-ADFF-BFE94FDF5C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fld id="{65B2509D-965F-4D5C-AA8C-1314C4C48EBF}" type="datetime1">
              <a:rPr lang="en-US" smtClean="0"/>
              <a:t>7/6/2026</a:t>
            </a:fld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1034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592116"/>
            <a:ext cx="3752088" cy="1688062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ED8BA8E-A006-8C0A-F38E-602DF5AF0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A35277B-D24E-0714-C9C2-B2B7094606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0FB8408-E1DE-0075-A836-ACF00DE74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E71648E9-1ACD-47F4-BD5E-FC035F672F21}" type="datetime1">
              <a:rPr lang="en-US" smtClean="0"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1848" y="1283188"/>
            <a:ext cx="5897880" cy="4996990"/>
          </a:xfrm>
        </p:spPr>
        <p:txBody>
          <a:bodyPr>
            <a:normAutofit/>
          </a:bodyPr>
          <a:lstStyle>
            <a:lvl1pPr marL="457200" indent="-457200">
              <a:spcAft>
                <a:spcPts val="1200"/>
              </a:spcAft>
              <a:buFont typeface="+mj-lt"/>
              <a:buNone/>
              <a:defRPr sz="2400"/>
            </a:lvl1pPr>
            <a:lvl2pPr marL="685800" indent="-457200">
              <a:spcAft>
                <a:spcPts val="1200"/>
              </a:spcAft>
              <a:buFont typeface="+mj-lt"/>
              <a:buNone/>
              <a:defRPr sz="2000"/>
            </a:lvl2pPr>
            <a:lvl3pPr marL="800100" indent="-342900">
              <a:spcAft>
                <a:spcPts val="1200"/>
              </a:spcAft>
              <a:buFont typeface="+mj-lt"/>
              <a:buNone/>
              <a:defRPr sz="1800"/>
            </a:lvl3pPr>
            <a:lvl4pPr marL="1028700" indent="-342900">
              <a:spcAft>
                <a:spcPts val="1200"/>
              </a:spcAft>
              <a:buFont typeface="+mj-lt"/>
              <a:buNone/>
              <a:defRPr sz="1800"/>
            </a:lvl4pPr>
            <a:lvl5pPr marL="1257300" indent="-342900">
              <a:spcAft>
                <a:spcPts val="1200"/>
              </a:spcAft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8872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1849" y="1260124"/>
            <a:ext cx="5862658" cy="1004010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CE8229-9007-2FAE-541D-CF30EAC42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04FD0C-EB35-93A6-EC72-0F5DE0E272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01E1BC1-6226-4EA7-B474-B8325F678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01021C2D-F782-4D42-9559-DD770C4FCA33}" type="datetime1">
              <a:rPr lang="en-US" smtClean="0"/>
              <a:t>7/6/2026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7512" y="1261872"/>
            <a:ext cx="4634315" cy="500429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1848" y="2568329"/>
            <a:ext cx="5897880" cy="3711850"/>
          </a:xfrm>
        </p:spPr>
        <p:txBody>
          <a:bodyPr>
            <a:normAutofit/>
          </a:bodyPr>
          <a:lstStyle>
            <a:lvl1pPr marL="457200" indent="-457200">
              <a:spcAft>
                <a:spcPts val="600"/>
              </a:spcAft>
              <a:buFont typeface="+mj-lt"/>
              <a:buAutoNum type="arabicPeriod"/>
              <a:defRPr sz="2000"/>
            </a:lvl1pPr>
            <a:lvl2pPr marL="571500" indent="-342900">
              <a:spcAft>
                <a:spcPts val="600"/>
              </a:spcAft>
              <a:buFont typeface="+mj-lt"/>
              <a:buAutoNum type="alphaLcPeriod"/>
              <a:defRPr sz="1800"/>
            </a:lvl2pPr>
            <a:lvl3pPr marL="800100" indent="-342900">
              <a:spcAft>
                <a:spcPts val="600"/>
              </a:spcAft>
              <a:buFont typeface="+mj-lt"/>
              <a:buAutoNum type="romanLcPeriod"/>
              <a:defRPr sz="1600"/>
            </a:lvl3pPr>
            <a:lvl4pPr marL="1028700" indent="-342900">
              <a:spcAft>
                <a:spcPts val="600"/>
              </a:spcAft>
              <a:buFont typeface="+mj-lt"/>
              <a:buAutoNum type="arabicParenR"/>
              <a:defRPr sz="1400"/>
            </a:lvl4pPr>
            <a:lvl5pPr>
              <a:spcAft>
                <a:spcPts val="600"/>
              </a:spcAft>
              <a:buFont typeface="+mj-lt"/>
              <a:buAutoNum type="romanL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628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856" y="1580083"/>
            <a:ext cx="8400288" cy="1688061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D88E5CD-667C-25ED-8BCA-A5BE1A8E3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7D79AB-D4D3-090F-161F-760A912F95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FF089D4-4A77-D29A-52E7-D665AAF45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C08E3F2-FA4C-45C3-B304-C7155F821EF4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54680" y="3588104"/>
            <a:ext cx="5897880" cy="1688062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237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094" y="1580083"/>
            <a:ext cx="5897881" cy="168806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201908F-A131-1AC9-55DC-24F30F3D9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CFA71DD-9DE1-BEED-E848-60BD2C61C4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DD6374B-C852-C9D4-33D1-2CFFC45F7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8660297-D8F2-43D6-A03C-5CF88A6EFBC3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98263" y="3588103"/>
            <a:ext cx="5897881" cy="20080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75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580082"/>
            <a:ext cx="3425951" cy="3696085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83B9E2-E297-4012-1ECB-FA03F04BA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7704DBE-D116-ED60-D1CF-18F68FE5C2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4419A51-22C5-527A-E9A2-55754680A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4BDE8FE-5F50-4185-919E-FC4EE33352DD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98263" y="1580082"/>
            <a:ext cx="7126225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5249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580083"/>
            <a:ext cx="3410711" cy="4700096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A5310C2-C284-D8C3-9305-365864CDB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BA3B80-47BF-CB3F-B5FD-9891B8B1B3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84059C7-F1E0-7CC6-AD88-A02B403DF3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9DB681F3-0509-4A81-9DD5-419606C45B5D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98264" y="1580083"/>
            <a:ext cx="7126224" cy="47000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2853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985802"/>
            <a:ext cx="3410711" cy="260230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6EE7AF-7DD3-DC19-6D34-E940BB352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09FC5-1FFE-CF58-7E13-C19F02C3F5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F968FDB-AE03-25F6-2343-C1F6FC98A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B9D778C0-E5EB-44EE-A66D-646756E7A69F}" type="datetime1">
              <a:rPr lang="en-US" smtClean="0"/>
              <a:t>7/6/2026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E5EC60F-1A48-E51E-B856-ADF7D557AF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4" y="985802"/>
            <a:ext cx="7141464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6231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985802"/>
            <a:ext cx="3410711" cy="529437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6EE7AF-7DD3-DC19-6D34-E940BB352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86BA4-9811-C1B5-796E-C61FA5F0EC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F968FDB-AE03-25F6-2343-C1F6FC98A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63A7118-B3C6-4EBA-A0E2-4AEA652F57A1}" type="datetime1">
              <a:rPr lang="en-US" smtClean="0"/>
              <a:t>7/6/2026</a:t>
            </a:fld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D0FE484-E6A5-7D93-A7B2-C71CD2671A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4" y="985802"/>
            <a:ext cx="7141464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7969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263" y="1260122"/>
            <a:ext cx="7126225" cy="100401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BF44B22-81A3-5C11-73E6-B955ED9DD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9DF2317-5307-1F2B-B3F1-77031B8F1A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5AAA207-A5C4-56FC-5D30-CD58B9341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89F8195-FAEE-47A9-804C-E84DD4E62923}" type="datetime1">
              <a:rPr lang="en-US" smtClean="0"/>
              <a:t>7/6/2026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0123"/>
            <a:ext cx="3410711" cy="5020056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5" y="2584093"/>
            <a:ext cx="7126224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373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7141464" cy="10040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B5B55D-2B4C-9E36-9E67-3505A7332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BB043B8-CC94-789F-E530-4DF519EEA3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DC335D7-A0F7-BD3D-BF97-982A94656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50D3EE2A-95C7-4C56-A79A-AF03B1B5A7C8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4"/>
            <a:ext cx="7141464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9016" y="1260122"/>
            <a:ext cx="3410712" cy="5020057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28824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680" y="1260122"/>
            <a:ext cx="8385048" cy="100401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0EDC41-A2C4-8CCD-B67B-6AC19F5C3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A6FEF80-5427-AC06-FBE6-7B508E000D8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D3E4458-96F1-7F5C-6181-D0D27E031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B9349C3D-A8C4-4AA1-A98E-1056B589D2B7}" type="datetime1">
              <a:rPr lang="en-US" smtClean="0"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1" y="1260123"/>
            <a:ext cx="2167129" cy="50200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54680" y="2584094"/>
            <a:ext cx="8369808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92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09" y="1261872"/>
            <a:ext cx="8385049" cy="102707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FB53CBC-C7D5-BE96-42C9-5AAA98187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0EECF8C-0C46-0E43-4558-0F8C402813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3B3AA0F-2358-6DB4-C617-B03E73D5F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3726E815-75B0-4614-92F7-BD367E20C4E3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1" y="2584092"/>
            <a:ext cx="8385048" cy="369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72601" y="1261872"/>
            <a:ext cx="2151888" cy="5018307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4576384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5431" y="1260122"/>
            <a:ext cx="4654297" cy="100400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A4D1053-884E-2834-2D03-511FB6195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E831349-76B0-627A-3E4B-D553FAE865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9CCFE9-2B59-7691-C45A-6E839A016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3FD556D2-FA47-46C5-A609-377AE88E2EE7}" type="datetime1">
              <a:rPr lang="en-US" smtClean="0"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1872"/>
            <a:ext cx="5897879" cy="5004290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5431" y="2584093"/>
            <a:ext cx="4654297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4338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2"/>
            <a:ext cx="4654296" cy="100401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F00F9C-205B-81C5-6180-2E06739DA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0F2BA95-39FC-18B4-5653-76E60E40B8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06DFB43-B155-62E3-B572-4F16FC492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D2E3C2C-8032-4A70-BAC0-53E5F160545E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3"/>
            <a:ext cx="4654296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1260122"/>
            <a:ext cx="5880800" cy="50200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27072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4592116"/>
            <a:ext cx="4974337" cy="168806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ADEBC8-C157-BE2E-7400-E9AB57520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27BF52-DE0B-B350-6511-8DF5414DC7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FB95C57-5544-14E7-C212-633EA7147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6389D7D8-FC2E-4190-898F-1892B48FB8DA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1260123"/>
            <a:ext cx="4951958" cy="3012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9016" y="4272155"/>
            <a:ext cx="3395472" cy="199751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197888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3"/>
            <a:ext cx="10872216" cy="100401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ADEBC8-C157-BE2E-7400-E9AB57520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B9F801-2896-6C4E-7B87-B0B8D2692B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FB95C57-5544-14E7-C212-633EA7147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23B81B63-4F4E-4260-AE70-7F34DF91DF77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5"/>
            <a:ext cx="10872216" cy="16880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4592115"/>
            <a:ext cx="10872216" cy="168806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294437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017" y="1260122"/>
            <a:ext cx="3395471" cy="200802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3A19B8-D27C-60F2-CCE1-9B2FE208D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A1A6486-75F8-1B85-1DC5-D9B9240EEE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56EEBDA-EC71-4385-DB53-41C22E785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8E95A402-7419-498A-A98C-BC10C9D9E62D}" type="datetime1">
              <a:rPr lang="en-US" smtClean="0"/>
              <a:t>7/6/2026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1" y="1260122"/>
            <a:ext cx="7141465" cy="5020057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29015" y="3588105"/>
            <a:ext cx="3410713" cy="26920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6180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1260122"/>
            <a:ext cx="3410710" cy="200802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5FF7B8E-8644-33FB-5A6E-02F11C554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C8FF2C-ECDB-3C80-34C6-034948647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71E01ADE-6A9B-F59C-F74A-6468B6F9C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67C6F2A-F4B3-4F44-A388-FF5233ABC527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1" y="3588105"/>
            <a:ext cx="3410711" cy="26920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8263" y="1260122"/>
            <a:ext cx="7126225" cy="5020057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903063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592115"/>
            <a:ext cx="4654296" cy="168806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9A92118-3DF4-2424-85AC-8ED02E2C6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24FEFCB-BC12-FCF8-8106-AEB614BAD7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F3F6702-15C0-4E20-444E-5921157E0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01B1B67D-B094-4A84-BC89-E29D9EFC45B3}" type="datetime1">
              <a:rPr lang="en-US" smtClean="0"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0122"/>
            <a:ext cx="10887457" cy="3012033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847" y="4592115"/>
            <a:ext cx="5913121" cy="16880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0925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3572339"/>
            <a:ext cx="3410713" cy="270784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C29D452-4290-AF7B-A928-BE3D83E36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F289CA-951A-9E32-F0F8-4551AB9107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4EC5306-39CD-9B46-EF6C-7D0453859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CED1FEB8-BE8B-43F2-985F-302B2C416D66}" type="datetime1">
              <a:rPr lang="en-US" smtClean="0"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1261872"/>
            <a:ext cx="10872216" cy="19922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5" y="3588106"/>
            <a:ext cx="7126224" cy="269207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10863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1" y="1260121"/>
            <a:ext cx="3410712" cy="2008021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1B962A-9F00-E9C8-C37D-B133691D4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DDF310E-58A5-07FC-4ACF-A49752941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7C8D897-C374-7A6F-BEED-22F80EF2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F127A4B6-6434-4FBE-A6ED-A07EC373AA47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5" y="1260122"/>
            <a:ext cx="7126224" cy="200802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3588106"/>
            <a:ext cx="10872216" cy="2692074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548180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D8D190F-4AD9-1493-D6E9-4312C874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2"/>
            <a:ext cx="10872216" cy="100400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900D201-0F2A-159F-0160-00CC1D23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B7B2F7A-427C-CBDE-5E80-74CCE63A1B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89A2B14-20C4-D5EB-A86B-842E1230D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AB27BDA-AAC0-4DA8-BBDD-04965AEE49AE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4"/>
            <a:ext cx="5897880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5432" y="2584094"/>
            <a:ext cx="4639056" cy="369608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02494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2"/>
            <a:ext cx="10872216" cy="100400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3A2EAFF-C6B2-37A8-E58D-5D3F3E8DC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787D6A-B2C4-9067-158A-25EF772947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CADB45D-F788-D3E9-0EC9-B9A177E83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58ACD03D-933A-4322-AC92-AD22A072A17A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2584094"/>
            <a:ext cx="3425952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8264" y="2584093"/>
            <a:ext cx="7126224" cy="3696085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066751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1872"/>
            <a:ext cx="10872216" cy="98824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BDE8171-69C8-B120-58D4-1407B9848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73D389F-7A28-F651-26AB-E5DDD5BC22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8DF7310-550A-F0CB-F5F2-C221FE5EE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E3B5C16E-44E5-4BAF-8F36-291C3913D8C8}" type="datetime1">
              <a:rPr lang="en-US" smtClean="0"/>
              <a:t>7/6/2026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3" y="2584094"/>
            <a:ext cx="4654296" cy="371612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848" y="2584094"/>
            <a:ext cx="5882640" cy="36960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9639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4"/>
            <a:ext cx="4654296" cy="100401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ABAF444-0EFC-B8EE-DF68-7CD4EEBA3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BC6452-8FE0-731A-B20B-59CF47CE74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C9BACBF-74CC-DF75-A77E-6C3DBA366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4FF032E9-B94F-48D6-9953-A37CC3DD361D}" type="datetime1">
              <a:rPr lang="en-US" smtClean="0"/>
              <a:t>7/6/2026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2584094"/>
            <a:ext cx="4654296" cy="369608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1849" y="1260123"/>
            <a:ext cx="5882639" cy="50200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65164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4592116"/>
            <a:ext cx="3851146" cy="168806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93EE06-439E-037F-0A22-AA611D80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13FCCC-8ADB-1A41-6DDF-0B695DF18E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966141-9B99-F2D0-A663-3003B791A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20DC4C1-6C99-451D-B95A-6A6C83FBEA90}" type="datetime1">
              <a:rPr lang="en-US" smtClean="0"/>
              <a:t>7/6/2026</a:t>
            </a:fld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5F6B1E0-54AD-E2E3-07CF-89CD66B9E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512" y="985802"/>
            <a:ext cx="3851146" cy="3286161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73752" y="985802"/>
            <a:ext cx="6665976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097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985802"/>
            <a:ext cx="3410710" cy="2692075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593EE06-439E-037F-0A22-AA611D80F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37CAFE-8E53-72CD-67ED-D6FF3F989B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966141-9B99-F2D0-A663-3003B791A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20DC4C1-6C99-451D-B95A-6A6C83FBEA90}" type="datetime1">
              <a:rPr lang="en-US" smtClean="0"/>
              <a:t>7/6/2026</a:t>
            </a:fld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5F6B1E0-54AD-E2E3-07CF-89CD66B9E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512" y="3997837"/>
            <a:ext cx="3410776" cy="2282341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8264" y="985802"/>
            <a:ext cx="7141464" cy="52943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1978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4876801"/>
            <a:ext cx="10887456" cy="990598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F8FBE7-CB31-F823-094B-CB9EA8AAF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2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B8BCE-73A3-7CA7-CC58-747C3404C3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1BD17B6-3206-38BE-87EC-CD9B9EE33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2"/>
                </a:solidFill>
                <a:latin typeface="+mj-lt"/>
              </a:defRPr>
            </a:lvl1pPr>
          </a:lstStyle>
          <a:p>
            <a:fld id="{C6450B90-FA5F-4260-B63F-4293C21AA5D8}" type="datetime1">
              <a:rPr lang="en-US" smtClean="0"/>
              <a:t>7/6/2026</a:t>
            </a:fld>
            <a:endParaRPr lang="en-US"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1260123"/>
            <a:ext cx="10872216" cy="400186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6D8E38-7B87-F523-02E2-2B25CEB03608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507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A1B35B-8229-46A8-D790-35535AAF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5432" y="3588103"/>
            <a:ext cx="4654296" cy="1004011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C520017-DEED-A8B1-38E4-3D9C706F4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EDC55A2-A0E7-BC03-FB67-1AA758AD2B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E5AE077-DF0B-A15B-4A79-30F0A8C23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42AEA91B-A988-4C4E-9746-AA5ABE9BBB3F}" type="datetime1">
              <a:rPr lang="en-US" smtClean="0"/>
              <a:t>7/6/2026</a:t>
            </a:fld>
            <a:endParaRPr lang="en-US"/>
          </a:p>
        </p:txBody>
      </p:sp>
      <p:sp>
        <p:nvSpPr>
          <p:cNvPr id="58" name="Content Placeholder 6">
            <a:extLst>
              <a:ext uri="{FF2B5EF4-FFF2-40B4-BE49-F238E27FC236}">
                <a16:creationId xmlns:a16="http://schemas.microsoft.com/office/drawing/2014/main" id="{0C283261-D09F-D80B-DF02-09F283F5457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2340333"/>
            <a:ext cx="5897880" cy="2841267"/>
          </a:xfr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68E3B3-F766-2399-A850-117BB05D38EC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195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998A46-1881-B476-51CF-DDBA11933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400" y="4953000"/>
            <a:ext cx="6434328" cy="914399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9D111AB-E6BB-B51B-3774-250F8A219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086923B-C836-873F-BA3F-1171CEF381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34122" y="181066"/>
            <a:ext cx="3144101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DD07E36-A89A-C684-334C-95E913FD7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767A4C6E-5706-496D-877F-B4C57BC6FFA4}" type="datetime1">
              <a:rPr lang="en-US" smtClean="0"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625DF0-C949-7B52-0DA5-761A193DD14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7512" y="1260122"/>
            <a:ext cx="8567928" cy="3321050"/>
          </a:xfrm>
        </p:spPr>
        <p:txBody>
          <a:bodyPr lIns="0" anchor="t"/>
          <a:lstStyle>
            <a:lvl1pPr marL="0" indent="0">
              <a:lnSpc>
                <a:spcPct val="90000"/>
              </a:lnSpc>
              <a:buNone/>
              <a:defRPr sz="27000" baseline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CE8610-8DAD-B42F-CE17-9A61CF604E32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5664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1D4649-10A0-CD50-74CC-45C45343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6434328" cy="914399"/>
          </a:xfrm>
        </p:spPr>
        <p:txBody>
          <a:bodyPr anchor="t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F3C09-A143-7C58-8361-A1A30E09BB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C42FF-AD7C-F8F7-C545-16F1396B041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864F6-5492-7E93-732A-79871A38F6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F5EC54E-20FB-F3A9-2BC4-1F199E02BBF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512" y="2867038"/>
            <a:ext cx="10872216" cy="3803080"/>
          </a:xfrm>
        </p:spPr>
        <p:txBody>
          <a:bodyPr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48B3D8-4B19-BAF5-1D40-0762FE6DB9DE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01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3C7CD-28CA-A697-2C6E-4988B96F15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A6BF3-667A-870C-5D19-51619AB6B2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420FB-9218-95EB-46B9-29FD0F851C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DC45E6-A328-ED2E-0067-FADFC532E1C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7512" y="2263803"/>
            <a:ext cx="10872216" cy="4016375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6600" b="1"/>
            </a:lvl1pPr>
            <a:lvl2pPr>
              <a:lnSpc>
                <a:spcPct val="90000"/>
              </a:lnSpc>
              <a:buNone/>
              <a:defRPr sz="6000" b="1"/>
            </a:lvl2pPr>
            <a:lvl3pPr>
              <a:lnSpc>
                <a:spcPct val="90000"/>
              </a:lnSpc>
              <a:buNone/>
              <a:defRPr sz="5400" b="1"/>
            </a:lvl3pPr>
            <a:lvl4pPr>
              <a:lnSpc>
                <a:spcPct val="90000"/>
              </a:lnSpc>
              <a:buNone/>
              <a:defRPr sz="4800" b="1"/>
            </a:lvl4pPr>
            <a:lvl5pPr>
              <a:lnSpc>
                <a:spcPct val="90000"/>
              </a:lnSpc>
              <a:buNone/>
              <a:defRPr sz="44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7881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02D43-D898-074B-2F4A-2E266C52B9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A496B-7B93-03B1-B65E-BA88677389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DF7A4-E0F3-8D7E-0ABC-3BCF9DE309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2584093"/>
            <a:ext cx="7141464" cy="3696085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400" b="1">
                <a:solidFill>
                  <a:schemeClr val="tx1"/>
                </a:solidFill>
              </a:defRPr>
            </a:lvl1pPr>
            <a:lvl2pPr marL="228600" indent="0">
              <a:lnSpc>
                <a:spcPct val="80000"/>
              </a:lnSpc>
              <a:buNone/>
              <a:defRPr sz="4800" b="1">
                <a:solidFill>
                  <a:schemeClr val="tx1"/>
                </a:solidFill>
              </a:defRPr>
            </a:lvl2pPr>
            <a:lvl3pPr marL="457200" indent="0">
              <a:lnSpc>
                <a:spcPct val="80000"/>
              </a:lnSpc>
              <a:buNone/>
              <a:defRPr sz="4400" b="1">
                <a:solidFill>
                  <a:schemeClr val="tx1"/>
                </a:solidFill>
              </a:defRPr>
            </a:lvl3pPr>
            <a:lvl4pPr marL="685800" indent="0">
              <a:lnSpc>
                <a:spcPct val="80000"/>
              </a:lnSpc>
              <a:buNone/>
              <a:defRPr sz="4000" b="1">
                <a:solidFill>
                  <a:schemeClr val="tx1"/>
                </a:solidFill>
              </a:defRPr>
            </a:lvl4pPr>
            <a:lvl5pPr marL="914400" indent="0">
              <a:lnSpc>
                <a:spcPct val="80000"/>
              </a:lnSpc>
              <a:buNone/>
              <a:defRPr sz="3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08730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F1BA4B-6C36-0F18-9372-DA7A5F1C85C2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092CA-ECA9-8DE8-53B7-CDFBCE831D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674DE-B35B-F149-D476-49F8B87CF1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470E04-C92A-571D-EE15-1EA7F7A15C3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11096" y="1260123"/>
            <a:ext cx="8385048" cy="433600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sz="5400" b="1"/>
            </a:lvl1pPr>
            <a:lvl2pPr marL="228600" indent="0" algn="ctr">
              <a:lnSpc>
                <a:spcPct val="80000"/>
              </a:lnSpc>
              <a:buNone/>
              <a:defRPr sz="4800" b="1"/>
            </a:lvl2pPr>
            <a:lvl3pPr marL="457200" indent="0" algn="ctr">
              <a:lnSpc>
                <a:spcPct val="80000"/>
              </a:lnSpc>
              <a:buNone/>
              <a:defRPr sz="4400" b="1"/>
            </a:lvl3pPr>
            <a:lvl4pPr marL="685800" indent="0" algn="ctr">
              <a:lnSpc>
                <a:spcPct val="80000"/>
              </a:lnSpc>
              <a:buNone/>
              <a:defRPr sz="4000" b="1"/>
            </a:lvl4pPr>
            <a:lvl5pPr marL="914400" indent="0" algn="ctr">
              <a:lnSpc>
                <a:spcPct val="8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163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794304-0909-E703-ABD0-A8D3AA1D3CCB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B9D34-540A-0829-F717-D8DDCD95E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738BA-7842-B75F-DB1F-0E8B3174D1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C4253-2B14-9D47-A10A-ABC853ABD5F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7512" y="1260123"/>
            <a:ext cx="10856976" cy="4378678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1pPr>
            <a:lvl2pPr marL="2286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2pPr>
            <a:lvl3pPr marL="4572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3pPr>
            <a:lvl4pPr marL="6858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4pPr>
            <a:lvl5pPr marL="914400" indent="0" algn="ctr">
              <a:lnSpc>
                <a:spcPct val="80000"/>
              </a:lnSpc>
              <a:buNone/>
              <a:defRPr sz="6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35182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339983-4EA3-348A-36E4-6BDF2E720E7F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22C3D-C209-8D3D-CD43-54C045382B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EE51E-D132-4B65-C82B-431B5CE662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1169C-A599-D4B1-B140-DEA20B291D6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512" y="1260122"/>
            <a:ext cx="10872216" cy="433600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1" dirty="0"/>
            </a:lvl1pPr>
            <a:lvl2pPr marL="228600" indent="0" algn="ctr">
              <a:lnSpc>
                <a:spcPct val="80000"/>
              </a:lnSpc>
              <a:buNone/>
              <a:defRPr lang="en-US" sz="6000" b="1" dirty="0"/>
            </a:lvl2pPr>
            <a:lvl3pPr marL="457200" indent="0" algn="ctr">
              <a:lnSpc>
                <a:spcPct val="80000"/>
              </a:lnSpc>
              <a:buNone/>
              <a:defRPr lang="en-US" sz="5400" b="1" dirty="0"/>
            </a:lvl3pPr>
            <a:lvl4pPr marL="685800" indent="0" algn="ctr">
              <a:lnSpc>
                <a:spcPct val="80000"/>
              </a:lnSpc>
              <a:buNone/>
              <a:defRPr lang="en-US" sz="4800" b="1" dirty="0"/>
            </a:lvl4pPr>
            <a:lvl5pPr marL="914400" indent="0" algn="ctr">
              <a:lnSpc>
                <a:spcPct val="80000"/>
              </a:lnSpc>
              <a:buNone/>
              <a:defRPr lang="en-US" sz="4400" b="1" dirty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12316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DBFA62-C703-0AC1-148A-B14C03AEBBCC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B2CD-26DD-138F-E7D5-D99CF92FC0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DD61F-5499-1F7B-3D4F-C205EDFB3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DC4E4-BD80-9BA6-E269-5F53DEFE8E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90553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4458" y="4955722"/>
            <a:ext cx="8863084" cy="669472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6AA888-6209-5DDB-D7BD-AFFE2FC73553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1659-F86C-4E1E-BF5A-D3C97715A1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EEDE5-19B7-1E08-E491-B9E81966AF7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69BF3-C0E3-D599-94DA-A66273FC8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64458" y="1344168"/>
            <a:ext cx="8863085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286709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1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EA7269-E0C0-24FF-83AE-918E65572670}"/>
              </a:ext>
            </a:extLst>
          </p:cNvPr>
          <p:cNvCxnSpPr>
            <a:cxnSpLocks/>
          </p:cNvCxnSpPr>
          <p:nvPr userDrawn="1"/>
        </p:nvCxnSpPr>
        <p:spPr>
          <a:xfrm>
            <a:off x="652272" y="6280179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6EDFB-F0D6-8773-D221-6D97A3A837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A14C-8640-6C73-0A10-13EC61472A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D7FDF-AAFD-AF9A-6E11-36DE42D52A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2666" y="1388534"/>
            <a:ext cx="8483601" cy="337124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857240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1261872"/>
            <a:ext cx="10872217" cy="103395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65392" y="2584093"/>
            <a:ext cx="4974336" cy="369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E775-DB75-CB1A-BFE8-78BCAD77D75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A12C1-730A-27D0-9441-4063B2F4C8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83B6-5689-7B78-207A-AE1FEA615FD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7511" y="2584093"/>
            <a:ext cx="4974337" cy="369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7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8405356D-E1B4-45BE-D7D0-42A7AAB8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1261872"/>
            <a:ext cx="10872217" cy="103395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59815-8676-26E4-EA5A-1B1ACFB6E9B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3E38B-0671-3294-31A5-2E4961FF527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3455C6-2D37-DA7B-B30D-DEC4B5CFB92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272" y="2584094"/>
            <a:ext cx="4989576" cy="66548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7512" y="3569539"/>
            <a:ext cx="4974336" cy="27106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2565527"/>
            <a:ext cx="4974336" cy="72118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65392" y="3569538"/>
            <a:ext cx="4974336" cy="27106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50136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9C627C0-7428-BA8A-D0E2-CC8A8D37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0" y="1261872"/>
            <a:ext cx="10872217" cy="103395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C0BCA-D1D7-CF64-AEC7-33E55DBC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B36D5-9101-EA9F-061C-3EB80ED0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C613A-845B-FD71-729B-17AC533A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93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DE469-E242-00F6-D36A-8C98D621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F422C-D8A7-AE2F-E398-B64591AD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113CA-1CE1-FE6B-9D3C-9E9AB40F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716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3"/>
            <a:ext cx="4654296" cy="100401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7512" y="2584094"/>
            <a:ext cx="4654296" cy="369608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848" y="1260123"/>
            <a:ext cx="5882640" cy="504860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61563-9E70-4586-A914-471E339C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72062-C159-A70C-DAB3-C80E0D34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7ED0D-2631-05E7-635A-88D81CC3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606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3"/>
            <a:ext cx="3429386" cy="1004011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9AD1E-0BFD-0C6E-EED4-3782FB82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7554B-B714-3610-BD99-8CAEFA5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FEDF4-9C70-920E-A49D-7787AA6D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7511" y="2584094"/>
            <a:ext cx="3410711" cy="3696085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398262" y="1260123"/>
            <a:ext cx="7141465" cy="502005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225559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10856976" cy="2008021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D07FC-43F1-4E18-580C-3C44320F91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5ABD4-FA73-E749-3EA0-9C6BA20EAC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1E3B5-40D2-5FD4-06BA-E77052C7F0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511" y="3588104"/>
            <a:ext cx="10856977" cy="26920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9598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2584093"/>
            <a:ext cx="8375902" cy="1688061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AA90F-CC56-0B2B-76BD-895A361811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B045D-0D5B-3227-835A-58CF4E811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6090A-D950-230B-F6B3-C5035C3CEAC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7512" y="4592115"/>
            <a:ext cx="8385048" cy="1688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345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260121"/>
            <a:ext cx="10872216" cy="10040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87E7F9E7-BD7C-7BD1-18C4-D0670D6F7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7512" y="187882"/>
            <a:ext cx="266609" cy="365125"/>
          </a:xfrm>
          <a:prstGeom prst="rect">
            <a:avLst/>
          </a:prstGeom>
        </p:spPr>
        <p:txBody>
          <a:bodyPr lIns="0" rIns="0" anchor="ctr"/>
          <a:lstStyle>
            <a:lvl1pPr algn="l" rtl="0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7ECAF3DD-865B-4F9E-8AEE-28157E83B0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4122" y="181066"/>
            <a:ext cx="3144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7084" y="181004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rtl="0">
              <a:defRPr sz="900">
                <a:solidFill>
                  <a:schemeClr val="tx1"/>
                </a:solidFill>
                <a:latin typeface="+mj-lt"/>
              </a:defRPr>
            </a:lvl1pPr>
          </a:lstStyle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2FCF00-BAB5-9903-A021-C98277BB5056}"/>
              </a:ext>
            </a:extLst>
          </p:cNvPr>
          <p:cNvCxnSpPr>
            <a:cxnSpLocks/>
          </p:cNvCxnSpPr>
          <p:nvPr userDrawn="1"/>
        </p:nvCxnSpPr>
        <p:spPr>
          <a:xfrm>
            <a:off x="652272" y="567605"/>
            <a:ext cx="108874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512" y="2584094"/>
            <a:ext cx="10856976" cy="3696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348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  <p15:guide id="21" pos="7296">
          <p15:clr>
            <a:srgbClr val="F26B43"/>
          </p15:clr>
        </p15:guide>
        <p15:guide id="22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3" y="4592116"/>
            <a:ext cx="3426389" cy="976143"/>
          </a:xfrm>
        </p:spPr>
        <p:txBody>
          <a:bodyPr>
            <a:normAutofit/>
          </a:bodyPr>
          <a:lstStyle/>
          <a:p>
            <a:r>
              <a:rPr lang="en-US"/>
              <a:t>Amer Šabić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D00CA014-6278-6480-FC4A-934E682B1C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7512" y="187882"/>
            <a:ext cx="266609" cy="365125"/>
          </a:xfrm>
        </p:spPr>
        <p:txBody>
          <a:bodyPr/>
          <a:lstStyle/>
          <a:p>
            <a:fld id="{7ECAF3DD-865B-4F9E-8AEE-28157E83B0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DDD0FA28-5A9B-C488-8256-740E33E5163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-2050" y="1051924"/>
            <a:ext cx="3144101" cy="365125"/>
          </a:xfrm>
        </p:spPr>
        <p:txBody>
          <a:bodyPr/>
          <a:lstStyle/>
          <a:p>
            <a:r>
              <a:rPr lang="en-US" sz="1600"/>
              <a:t>Univerzitet u Sarajevu</a:t>
            </a:r>
          </a:p>
          <a:p>
            <a:r>
              <a:rPr lang="en-US" sz="1600"/>
              <a:t>Elektrotehnički fakultet</a:t>
            </a:r>
          </a:p>
          <a:p>
            <a:r>
              <a:rPr lang="en-US" sz="1600"/>
              <a:t>Predmet : Stukture I režimi rada elektroenergetskih sistema</a:t>
            </a:r>
          </a:p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FFCD1FF1-6A57-A135-4600-B9703046831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337084" y="181004"/>
            <a:ext cx="2202644" cy="365125"/>
          </a:xfrm>
        </p:spPr>
        <p:txBody>
          <a:bodyPr/>
          <a:lstStyle/>
          <a:p>
            <a:fld id="{53618751-5ECB-45D5-B2D6-5530CCBC3008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D4641F-F05C-B634-596E-E237596189A6}"/>
              </a:ext>
            </a:extLst>
          </p:cNvPr>
          <p:cNvSpPr txBox="1"/>
          <p:nvPr/>
        </p:nvSpPr>
        <p:spPr>
          <a:xfrm>
            <a:off x="2988049" y="2085955"/>
            <a:ext cx="854765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 err="1"/>
              <a:t>Konvertor</a:t>
            </a:r>
            <a:r>
              <a:rPr lang="en-US" sz="6000" b="1" dirty="0"/>
              <a:t> </a:t>
            </a:r>
            <a:r>
              <a:rPr lang="en-US" sz="6000" b="1" dirty="0" err="1"/>
              <a:t>nelinearnih</a:t>
            </a:r>
            <a:r>
              <a:rPr lang="en-US" sz="6000" b="1" dirty="0"/>
              <a:t> </a:t>
            </a:r>
            <a:r>
              <a:rPr lang="en-US" sz="6000" b="1" dirty="0" err="1"/>
              <a:t>punih</a:t>
            </a:r>
            <a:r>
              <a:rPr lang="en-US" sz="6000" b="1" dirty="0"/>
              <a:t> </a:t>
            </a:r>
            <a:r>
              <a:rPr lang="en-US" sz="6000" b="1" dirty="0" err="1"/>
              <a:t>tokova</a:t>
            </a:r>
            <a:r>
              <a:rPr lang="en-US" sz="6000" b="1" dirty="0"/>
              <a:t> </a:t>
            </a:r>
            <a:r>
              <a:rPr lang="en-US" sz="6000" b="1" dirty="0" err="1"/>
              <a:t>snaga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C44CC4A1-1EC4-2AC9-A7A4-81A3FB4A8E01}"/>
              </a:ext>
            </a:extLst>
          </p:cNvPr>
          <p:cNvSpPr txBox="1">
            <a:spLocks/>
          </p:cNvSpPr>
          <p:nvPr/>
        </p:nvSpPr>
        <p:spPr>
          <a:xfrm>
            <a:off x="8425399" y="4700973"/>
            <a:ext cx="3426389" cy="97614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Prof.dr</a:t>
            </a:r>
            <a:r>
              <a:rPr lang="en-US"/>
              <a:t>. Izudin Džafić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8750F59-8587-D57F-AA77-AAEFDC1FA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B521-838E-BA6E-7EBC-86C7BA775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998" y="367492"/>
            <a:ext cx="10872216" cy="1004011"/>
          </a:xfrm>
        </p:spPr>
        <p:txBody>
          <a:bodyPr/>
          <a:lstStyle/>
          <a:p>
            <a:r>
              <a:rPr lang="en-US" b="1" dirty="0" err="1"/>
              <a:t>Sadržaj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85FCAA-93B5-9D7C-87AF-2CF08B5B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0CC6F-B939-ACBD-C58C-9CF3883F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9789-272A-9354-518D-CF21AA45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05A2F-1DD0-6850-A541-2907ABC8F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255" y="2584094"/>
            <a:ext cx="5457662" cy="13665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 dirty="0" err="1"/>
              <a:t>Problemi</a:t>
            </a:r>
            <a:r>
              <a:rPr lang="en-US" sz="2200" b="1" dirty="0"/>
              <a:t> </a:t>
            </a:r>
            <a:r>
              <a:rPr lang="en-US" sz="2200" b="1" dirty="0" err="1"/>
              <a:t>tokova</a:t>
            </a:r>
            <a:r>
              <a:rPr lang="en-US" sz="2200" b="1" dirty="0"/>
              <a:t> </a:t>
            </a:r>
            <a:r>
              <a:rPr lang="en-US" sz="2200" b="1" dirty="0" err="1"/>
              <a:t>snaga</a:t>
            </a:r>
            <a:r>
              <a:rPr lang="en-US" sz="2200" b="1" dirty="0"/>
              <a:t> u EES-u</a:t>
            </a:r>
            <a:endParaRPr lang="en-US"/>
          </a:p>
          <a:p>
            <a:r>
              <a:rPr lang="en-US" sz="2200" b="1" dirty="0" err="1"/>
              <a:t>Jednačine</a:t>
            </a:r>
            <a:r>
              <a:rPr lang="en-US" sz="2200" b="1" dirty="0"/>
              <a:t> u </a:t>
            </a:r>
            <a:r>
              <a:rPr lang="en-US" sz="2200" b="1" dirty="0" err="1"/>
              <a:t>pravougaonim</a:t>
            </a:r>
            <a:r>
              <a:rPr lang="en-US" sz="2200" b="1" dirty="0"/>
              <a:t> </a:t>
            </a:r>
            <a:r>
              <a:rPr lang="en-US" sz="2200" b="1" dirty="0" err="1"/>
              <a:t>koordinatama</a:t>
            </a:r>
            <a:endParaRPr lang="en-US" sz="2200" b="1" dirty="0"/>
          </a:p>
          <a:p>
            <a:r>
              <a:rPr lang="en-US" sz="2200" b="1" dirty="0" err="1"/>
              <a:t>Dinamički</a:t>
            </a:r>
            <a:r>
              <a:rPr lang="en-US" sz="2200" b="1" dirty="0"/>
              <a:t> </a:t>
            </a:r>
            <a:r>
              <a:rPr lang="en-US" sz="2200" b="1" dirty="0" err="1"/>
              <a:t>dvoosni</a:t>
            </a:r>
            <a:r>
              <a:rPr lang="en-US" sz="2200" b="1" dirty="0"/>
              <a:t> model </a:t>
            </a:r>
            <a:r>
              <a:rPr lang="en-US" sz="2200" b="1" dirty="0" err="1"/>
              <a:t>generatora</a:t>
            </a:r>
            <a:endParaRPr lang="en-US" sz="2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D6006-FB9F-A0B0-5D7F-670541775120}"/>
              </a:ext>
            </a:extLst>
          </p:cNvPr>
          <p:cNvSpPr txBox="1"/>
          <p:nvPr/>
        </p:nvSpPr>
        <p:spPr>
          <a:xfrm>
            <a:off x="6200440" y="2584490"/>
            <a:ext cx="578173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200" b="1" dirty="0" err="1"/>
              <a:t>Konstruisanje</a:t>
            </a:r>
            <a:r>
              <a:rPr lang="en-US" sz="2200" b="1" dirty="0"/>
              <a:t> DAE </a:t>
            </a:r>
            <a:r>
              <a:rPr lang="en-US" sz="2200" b="1" dirty="0" err="1"/>
              <a:t>modela</a:t>
            </a:r>
            <a:r>
              <a:rPr lang="en-US" sz="2200" b="1" dirty="0"/>
              <a:t> u </a:t>
            </a:r>
            <a:r>
              <a:rPr lang="en-US" sz="2200" b="1" dirty="0" err="1"/>
              <a:t>dTwin</a:t>
            </a:r>
            <a:r>
              <a:rPr lang="en-US" sz="2200" b="1" dirty="0"/>
              <a:t>-u</a:t>
            </a:r>
            <a:endParaRPr lang="en-US" b="1"/>
          </a:p>
          <a:p>
            <a:pPr marL="457200" indent="-457200">
              <a:buFont typeface="Arial"/>
              <a:buChar char="•"/>
            </a:pPr>
            <a:endParaRPr lang="en-US" sz="2200" b="1" dirty="0"/>
          </a:p>
          <a:p>
            <a:pPr marL="457200" indent="-457200">
              <a:buFont typeface="Arial"/>
              <a:buChar char="•"/>
            </a:pPr>
            <a:r>
              <a:rPr lang="en-US" sz="2200" b="1" dirty="0"/>
              <a:t>GUI </a:t>
            </a:r>
            <a:r>
              <a:rPr lang="en-US" sz="2200" b="1" dirty="0" err="1"/>
              <a:t>aplikacija</a:t>
            </a:r>
            <a:r>
              <a:rPr lang="en-US" sz="2200" b="1" dirty="0"/>
              <a:t> (</a:t>
            </a:r>
            <a:r>
              <a:rPr lang="en-US" sz="2200" b="1" dirty="0" err="1"/>
              <a:t>natID</a:t>
            </a:r>
            <a:r>
              <a:rPr lang="en-US" sz="2200" b="1" dirty="0"/>
              <a:t>)</a:t>
            </a:r>
          </a:p>
          <a:p>
            <a:pPr marL="457200" indent="-457200">
              <a:buFont typeface="Arial"/>
              <a:buChar char="•"/>
            </a:pPr>
            <a:endParaRPr lang="en-US" sz="2200" b="1" dirty="0"/>
          </a:p>
          <a:p>
            <a:pPr marL="457200" indent="-457200">
              <a:buFont typeface="Arial"/>
              <a:buChar char="•"/>
            </a:pPr>
            <a:r>
              <a:rPr lang="en-US" sz="2200" b="1" dirty="0" err="1"/>
              <a:t>Rezultati</a:t>
            </a:r>
            <a:r>
              <a:rPr lang="en-US" sz="2200" b="1" dirty="0"/>
              <a:t> </a:t>
            </a:r>
            <a:r>
              <a:rPr lang="en-US" sz="2200" b="1" dirty="0" err="1"/>
              <a:t>simulacije</a:t>
            </a:r>
            <a:endParaRPr lang="en-US" sz="2200" b="1" dirty="0"/>
          </a:p>
          <a:p>
            <a:pPr marL="457200" indent="-457200">
              <a:buFont typeface="Arial"/>
              <a:buChar char="•"/>
            </a:pP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35978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51A5-904A-B5CF-EBCF-8E33B1C6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541664"/>
            <a:ext cx="10872216" cy="1004011"/>
          </a:xfrm>
        </p:spPr>
        <p:txBody>
          <a:bodyPr/>
          <a:lstStyle/>
          <a:p>
            <a:r>
              <a:rPr lang="en-US" b="1" dirty="0"/>
              <a:t>Problem </a:t>
            </a:r>
            <a:r>
              <a:rPr lang="en-US" b="1" dirty="0" err="1"/>
              <a:t>tokova</a:t>
            </a:r>
            <a:r>
              <a:rPr lang="en-US" b="1" dirty="0"/>
              <a:t> </a:t>
            </a:r>
            <a:r>
              <a:rPr lang="en-US" b="1" dirty="0" err="1"/>
              <a:t>snaga</a:t>
            </a:r>
            <a:r>
              <a:rPr lang="en-US" b="1" dirty="0"/>
              <a:t> u EES-u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393E74-CED4-077A-F07F-FB60342D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B7D91-4AC1-B414-C239-7D43A417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FE67A-36DF-26C8-E4D6-D02E763FD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53287-22C0-65D5-B147-626402FAE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b="1" dirty="0" err="1"/>
              <a:t>Osnovni</a:t>
            </a:r>
            <a:r>
              <a:rPr lang="en-US" sz="2000" b="1" dirty="0"/>
              <a:t> </a:t>
            </a:r>
            <a:r>
              <a:rPr lang="en-US" sz="2000" b="1" dirty="0" err="1"/>
              <a:t>cilj</a:t>
            </a:r>
            <a:r>
              <a:rPr lang="en-US" sz="2000" b="1" dirty="0"/>
              <a:t> </a:t>
            </a:r>
            <a:r>
              <a:rPr lang="en-US" sz="2000" b="1" dirty="0" err="1"/>
              <a:t>proračuna</a:t>
            </a:r>
            <a:r>
              <a:rPr lang="en-US" sz="2000" b="1" dirty="0"/>
              <a:t> : </a:t>
            </a:r>
            <a:r>
              <a:rPr lang="en-US" sz="2000" b="1" dirty="0" err="1"/>
              <a:t>Određivanje</a:t>
            </a:r>
            <a:r>
              <a:rPr lang="en-US" sz="2000" b="1" dirty="0"/>
              <a:t> </a:t>
            </a:r>
            <a:r>
              <a:rPr lang="en-US" sz="2000" b="1" dirty="0" err="1"/>
              <a:t>napona</a:t>
            </a:r>
            <a:r>
              <a:rPr lang="en-US" sz="2000" b="1" dirty="0"/>
              <a:t> (</a:t>
            </a:r>
            <a:r>
              <a:rPr lang="en-US" sz="2000" b="1" dirty="0" err="1"/>
              <a:t>amplituda</a:t>
            </a:r>
            <a:r>
              <a:rPr lang="en-US" sz="2000" b="1" dirty="0"/>
              <a:t> I </a:t>
            </a:r>
            <a:r>
              <a:rPr lang="en-US" sz="2000" b="1" dirty="0" err="1"/>
              <a:t>faza</a:t>
            </a:r>
            <a:r>
              <a:rPr lang="en-US" sz="2000" b="1" dirty="0"/>
              <a:t>) u </a:t>
            </a:r>
            <a:r>
              <a:rPr lang="en-US" sz="2000" b="1" dirty="0" err="1"/>
              <a:t>svim</a:t>
            </a:r>
            <a:r>
              <a:rPr lang="en-US" sz="2000" b="1" dirty="0"/>
              <a:t> </a:t>
            </a:r>
            <a:r>
              <a:rPr lang="en-US" sz="2000" b="1" dirty="0" err="1"/>
              <a:t>čvorovima</a:t>
            </a:r>
            <a:endParaRPr lang="en-US" sz="2000"/>
          </a:p>
          <a:p>
            <a:r>
              <a:rPr lang="en-US" sz="2000" b="1" dirty="0" err="1"/>
              <a:t>Modeliranje</a:t>
            </a:r>
            <a:r>
              <a:rPr lang="en-US" sz="2000" b="1" dirty="0"/>
              <a:t> </a:t>
            </a:r>
            <a:r>
              <a:rPr lang="en-US" sz="2000" b="1" dirty="0" err="1"/>
              <a:t>čvorova</a:t>
            </a:r>
            <a:r>
              <a:rPr lang="en-US" sz="2000" b="1" dirty="0"/>
              <a:t> (</a:t>
            </a:r>
            <a:r>
              <a:rPr lang="en-US" sz="2000" b="1" dirty="0" err="1"/>
              <a:t>sabirnica</a:t>
            </a:r>
            <a:r>
              <a:rPr lang="en-US" sz="2000" b="1" dirty="0"/>
              <a:t>) u </a:t>
            </a:r>
            <a:r>
              <a:rPr lang="en-US" sz="2000" b="1" dirty="0" err="1"/>
              <a:t>mreži</a:t>
            </a:r>
            <a:r>
              <a:rPr lang="en-US" sz="2000" b="1" dirty="0"/>
              <a:t>: </a:t>
            </a:r>
          </a:p>
          <a:p>
            <a:pPr lvl="1"/>
            <a:r>
              <a:rPr lang="en-US" sz="2000" b="1" dirty="0"/>
              <a:t>PQ </a:t>
            </a:r>
            <a:r>
              <a:rPr lang="en-US" sz="2000" b="1" dirty="0" err="1"/>
              <a:t>čvor</a:t>
            </a:r>
            <a:r>
              <a:rPr lang="en-US" sz="2000" b="1" dirty="0"/>
              <a:t> : </a:t>
            </a:r>
            <a:r>
              <a:rPr lang="en-US" sz="2000" b="1" dirty="0" err="1"/>
              <a:t>Potrošački</a:t>
            </a:r>
            <a:r>
              <a:rPr lang="en-US" sz="2000" b="1" dirty="0"/>
              <a:t> </a:t>
            </a:r>
            <a:r>
              <a:rPr lang="en-US" sz="2000" b="1" dirty="0" err="1"/>
              <a:t>čvorovi</a:t>
            </a:r>
            <a:r>
              <a:rPr lang="en-US" sz="2000" b="1" dirty="0"/>
              <a:t> (</a:t>
            </a:r>
            <a:r>
              <a:rPr lang="en-US" sz="2000" b="1" dirty="0" err="1"/>
              <a:t>poznate</a:t>
            </a:r>
            <a:r>
              <a:rPr lang="en-US" sz="2000" b="1" dirty="0"/>
              <a:t> </a:t>
            </a:r>
            <a:r>
              <a:rPr lang="en-US" sz="2000" b="1" dirty="0" err="1"/>
              <a:t>su</a:t>
            </a:r>
            <a:r>
              <a:rPr lang="en-US" sz="2000" b="1" dirty="0"/>
              <a:t> </a:t>
            </a:r>
            <a:r>
              <a:rPr lang="en-US" sz="2000" b="1" dirty="0" err="1"/>
              <a:t>aktivna</a:t>
            </a:r>
            <a:r>
              <a:rPr lang="en-US" sz="2000" b="1" dirty="0"/>
              <a:t> </a:t>
            </a:r>
            <a:r>
              <a:rPr lang="en-US" sz="2000" b="1" dirty="0" err="1"/>
              <a:t>snaga</a:t>
            </a:r>
            <a:r>
              <a:rPr lang="en-US" sz="2000" b="1" dirty="0"/>
              <a:t> P , </a:t>
            </a:r>
            <a:r>
              <a:rPr lang="en-US" sz="2000" b="1" dirty="0" err="1"/>
              <a:t>reaktivna</a:t>
            </a:r>
            <a:r>
              <a:rPr lang="en-US" sz="2000" b="1" dirty="0"/>
              <a:t> </a:t>
            </a:r>
            <a:r>
              <a:rPr lang="en-US" sz="2000" b="1" dirty="0" err="1"/>
              <a:t>snaga</a:t>
            </a:r>
            <a:r>
              <a:rPr lang="en-US" sz="2000" b="1" dirty="0"/>
              <a:t> Q</a:t>
            </a:r>
          </a:p>
          <a:p>
            <a:pPr lvl="1"/>
            <a:r>
              <a:rPr lang="en-US" sz="2000" b="1" dirty="0"/>
              <a:t>PV </a:t>
            </a:r>
            <a:r>
              <a:rPr lang="en-US" sz="2000" b="1" dirty="0" err="1"/>
              <a:t>čvor</a:t>
            </a:r>
            <a:r>
              <a:rPr lang="en-US" sz="2000" b="1" dirty="0"/>
              <a:t> : </a:t>
            </a:r>
            <a:r>
              <a:rPr lang="en-US" sz="2000" b="1" dirty="0" err="1"/>
              <a:t>Generatorski</a:t>
            </a:r>
            <a:r>
              <a:rPr lang="en-US" sz="2000" b="1" dirty="0"/>
              <a:t> </a:t>
            </a:r>
            <a:r>
              <a:rPr lang="en-US" sz="2000" b="1" dirty="0" err="1"/>
              <a:t>čvorovi</a:t>
            </a:r>
            <a:r>
              <a:rPr lang="en-US" sz="2000" b="1" dirty="0"/>
              <a:t> (</a:t>
            </a:r>
            <a:r>
              <a:rPr lang="en-US" sz="2000" b="1" dirty="0" err="1"/>
              <a:t>poznati</a:t>
            </a:r>
            <a:r>
              <a:rPr lang="en-US" sz="2000" b="1" dirty="0"/>
              <a:t> </a:t>
            </a:r>
            <a:r>
              <a:rPr lang="en-US" sz="2000" b="1" dirty="0" err="1"/>
              <a:t>su</a:t>
            </a:r>
            <a:r>
              <a:rPr lang="en-US" sz="2000" b="1" dirty="0"/>
              <a:t> </a:t>
            </a:r>
            <a:r>
              <a:rPr lang="en-US" sz="2000" b="1" dirty="0" err="1"/>
              <a:t>aktivna</a:t>
            </a:r>
            <a:r>
              <a:rPr lang="en-US" sz="2000" b="1" dirty="0"/>
              <a:t> </a:t>
            </a:r>
            <a:r>
              <a:rPr lang="en-US" sz="2000" b="1" dirty="0" err="1"/>
              <a:t>snaga</a:t>
            </a:r>
            <a:r>
              <a:rPr lang="en-US" sz="2000" b="1" dirty="0"/>
              <a:t> P, </a:t>
            </a:r>
            <a:r>
              <a:rPr lang="en-US" sz="2000" b="1" dirty="0" err="1"/>
              <a:t>amplituda</a:t>
            </a:r>
            <a:r>
              <a:rPr lang="en-US" sz="2000" b="1" dirty="0"/>
              <a:t> </a:t>
            </a:r>
            <a:r>
              <a:rPr lang="en-US" sz="2000" b="1" dirty="0" err="1"/>
              <a:t>napona</a:t>
            </a:r>
            <a:r>
              <a:rPr lang="en-US" sz="2000" b="1" dirty="0"/>
              <a:t> V</a:t>
            </a:r>
          </a:p>
          <a:p>
            <a:pPr lvl="1"/>
            <a:r>
              <a:rPr lang="en-US" sz="2000" b="1" dirty="0"/>
              <a:t>Slack </a:t>
            </a:r>
            <a:r>
              <a:rPr lang="en-US" sz="2000" b="1" dirty="0" err="1"/>
              <a:t>čvor</a:t>
            </a:r>
            <a:r>
              <a:rPr lang="en-US" sz="2000" b="1" dirty="0"/>
              <a:t> : </a:t>
            </a:r>
            <a:r>
              <a:rPr lang="en-US" sz="2000" b="1" dirty="0" err="1"/>
              <a:t>Referentna</a:t>
            </a:r>
            <a:r>
              <a:rPr lang="en-US" sz="2000" b="1" dirty="0"/>
              <a:t> </a:t>
            </a:r>
            <a:r>
              <a:rPr lang="en-US" sz="2000" b="1" dirty="0" err="1"/>
              <a:t>sabirnica</a:t>
            </a:r>
            <a:endParaRPr lang="en-US" sz="2000" b="1" dirty="0"/>
          </a:p>
          <a:p>
            <a:pPr lvl="1"/>
            <a:endParaRPr lang="en-US" sz="2000" b="1" dirty="0"/>
          </a:p>
          <a:p>
            <a:pPr marL="228600" lvl="1" indent="0">
              <a:buNone/>
            </a:pPr>
            <a:r>
              <a:rPr lang="en-US" sz="2300" b="1" dirty="0" err="1"/>
              <a:t>Matematička</a:t>
            </a:r>
            <a:r>
              <a:rPr lang="en-US" sz="2300" b="1" dirty="0"/>
              <a:t> </a:t>
            </a:r>
            <a:r>
              <a:rPr lang="en-US" sz="2300" b="1" dirty="0" err="1"/>
              <a:t>priroda</a:t>
            </a:r>
            <a:r>
              <a:rPr lang="en-US" sz="2000" b="1" dirty="0"/>
              <a:t> : 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Problem se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svodi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na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rješavanje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robusnog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sistema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nelinearnih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algebarskih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jednačina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koji se u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praksi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rješava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iterativnim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postupcima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 (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poput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 Newton-Raphson </a:t>
            </a:r>
            <a:r>
              <a:rPr lang="en-US" sz="2000" b="1" dirty="0" err="1">
                <a:solidFill>
                  <a:srgbClr val="01463E"/>
                </a:solidFill>
                <a:ea typeface="+mn-lt"/>
                <a:cs typeface="+mn-lt"/>
              </a:rPr>
              <a:t>metode</a:t>
            </a:r>
            <a:r>
              <a:rPr lang="en-US" sz="2000" b="1" dirty="0">
                <a:solidFill>
                  <a:srgbClr val="01463E"/>
                </a:solidFill>
                <a:ea typeface="+mn-lt"/>
                <a:cs typeface="+mn-lt"/>
              </a:rPr>
              <a:t>).</a:t>
            </a:r>
            <a:endParaRPr lang="en-US" sz="2000" b="1" dirty="0">
              <a:solidFill>
                <a:srgbClr val="01463E"/>
              </a:solidFill>
            </a:endParaRPr>
          </a:p>
          <a:p>
            <a:pPr>
              <a:buFont typeface="Arial"/>
              <a:buChar char="•"/>
            </a:pPr>
            <a:endParaRPr lang="en-US" b="1" dirty="0"/>
          </a:p>
          <a:p>
            <a:pPr>
              <a:buFont typeface="Arial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924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422A-1D56-D309-F40B-8005D8E3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12" y="715835"/>
            <a:ext cx="10872216" cy="100401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200" b="1" dirty="0" err="1"/>
              <a:t>Jednačine</a:t>
            </a:r>
            <a:r>
              <a:rPr lang="en-US" sz="4200" b="1" dirty="0"/>
              <a:t> </a:t>
            </a:r>
            <a:r>
              <a:rPr lang="en-US" sz="4200" b="1" dirty="0" err="1"/>
              <a:t>tokova</a:t>
            </a:r>
            <a:r>
              <a:rPr lang="en-US" sz="4200" b="1" dirty="0"/>
              <a:t> </a:t>
            </a:r>
            <a:r>
              <a:rPr lang="en-US" sz="4200" b="1" dirty="0" err="1"/>
              <a:t>snaga</a:t>
            </a:r>
            <a:r>
              <a:rPr lang="en-US" sz="4200" b="1" dirty="0"/>
              <a:t> u </a:t>
            </a:r>
            <a:r>
              <a:rPr lang="en-US" sz="4200" b="1" dirty="0" err="1"/>
              <a:t>pravougaonim</a:t>
            </a:r>
            <a:r>
              <a:rPr lang="en-US" sz="4200" b="1" dirty="0"/>
              <a:t> </a:t>
            </a:r>
            <a:r>
              <a:rPr lang="en-US" sz="4200" b="1" dirty="0" err="1"/>
              <a:t>koordinatama</a:t>
            </a:r>
            <a:endParaRPr lang="en-US" sz="42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9F6750-33EA-A4CE-EA63-99B829A1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F5153-579A-9068-EADA-F5F9E22E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DDCD3-FEF4-0505-FB88-680CE7E2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pic>
        <p:nvPicPr>
          <p:cNvPr id="9" name="Content Placeholder 8" descr="A math equation with white letters&#10;&#10;AI-generated content may be incorrect.">
            <a:extLst>
              <a:ext uri="{FF2B5EF4-FFF2-40B4-BE49-F238E27FC236}">
                <a16:creationId xmlns:a16="http://schemas.microsoft.com/office/drawing/2014/main" id="{849C98EA-A378-7CDC-658D-5288236C6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8937" y="2967327"/>
            <a:ext cx="2371725" cy="752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69C4C9-A849-3A9F-9795-6C85B0B44314}"/>
              </a:ext>
            </a:extLst>
          </p:cNvPr>
          <p:cNvSpPr txBox="1"/>
          <p:nvPr/>
        </p:nvSpPr>
        <p:spPr>
          <a:xfrm>
            <a:off x="695739" y="1855304"/>
            <a:ext cx="9022521" cy="375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Kompleksni</a:t>
            </a:r>
            <a:r>
              <a:rPr lang="en-US" b="1" dirty="0"/>
              <a:t> </a:t>
            </a:r>
            <a:r>
              <a:rPr lang="en-US" b="1" dirty="0" err="1"/>
              <a:t>napon</a:t>
            </a:r>
            <a:r>
              <a:rPr lang="en-US" b="1" dirty="0"/>
              <a:t> I </a:t>
            </a:r>
            <a:r>
              <a:rPr lang="en-US" b="1" dirty="0" err="1"/>
              <a:t>admitansu</a:t>
            </a:r>
            <a:r>
              <a:rPr lang="en-US" b="1" dirty="0"/>
              <a:t> </a:t>
            </a:r>
            <a:r>
              <a:rPr lang="en-US" b="1" dirty="0" err="1"/>
              <a:t>prikazujemo</a:t>
            </a:r>
            <a:r>
              <a:rPr lang="en-US" b="1" dirty="0"/>
              <a:t> </a:t>
            </a:r>
            <a:r>
              <a:rPr lang="en-US" b="1" dirty="0" err="1"/>
              <a:t>kao</a:t>
            </a:r>
            <a:r>
              <a:rPr lang="en-US" b="1" dirty="0"/>
              <a:t> </a:t>
            </a:r>
            <a:r>
              <a:rPr lang="en-US" b="1" dirty="0" err="1"/>
              <a:t>zbir</a:t>
            </a:r>
            <a:r>
              <a:rPr lang="en-US" b="1" dirty="0"/>
              <a:t> </a:t>
            </a:r>
            <a:r>
              <a:rPr lang="en-US" b="1" dirty="0" err="1"/>
              <a:t>realnog</a:t>
            </a:r>
            <a:r>
              <a:rPr lang="en-US" b="1" dirty="0"/>
              <a:t> I </a:t>
            </a:r>
            <a:r>
              <a:rPr lang="en-US" b="1" dirty="0" err="1"/>
              <a:t>imaginarnog</a:t>
            </a:r>
            <a:r>
              <a:rPr lang="en-US" b="1" dirty="0"/>
              <a:t> </a:t>
            </a:r>
            <a:r>
              <a:rPr lang="en-US" b="1" dirty="0" err="1"/>
              <a:t>dijela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637C7-AC11-2008-C82A-A6E1614134F5}"/>
              </a:ext>
            </a:extLst>
          </p:cNvPr>
          <p:cNvSpPr txBox="1"/>
          <p:nvPr/>
        </p:nvSpPr>
        <p:spPr>
          <a:xfrm>
            <a:off x="933016" y="2829971"/>
            <a:ext cx="31142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 err="1">
                <a:solidFill>
                  <a:schemeClr val="tx2"/>
                </a:solidFill>
              </a:rPr>
              <a:t>Polazni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kompleksni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oblik</a:t>
            </a:r>
            <a:r>
              <a:rPr lang="en-US" b="1" dirty="0">
                <a:solidFill>
                  <a:schemeClr val="tx2"/>
                </a:solidFill>
              </a:rPr>
              <a:t>    - </a:t>
            </a:r>
            <a:r>
              <a:rPr lang="en-US" b="1" dirty="0" err="1">
                <a:solidFill>
                  <a:schemeClr val="tx2"/>
                </a:solidFill>
              </a:rPr>
              <a:t>bilansa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snage</a:t>
            </a:r>
            <a:endParaRPr lang="en-US" b="1" dirty="0">
              <a:solidFill>
                <a:schemeClr val="tx2"/>
              </a:solidFill>
            </a:endParaRPr>
          </a:p>
          <a:p>
            <a:pPr algn="l"/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1" name="Picture 10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6DD289F-F5AC-D28F-5765-89B4CB3C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78" y="5428116"/>
            <a:ext cx="4562475" cy="733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02B913-944F-7B70-CBBC-0A28563630F5}"/>
              </a:ext>
            </a:extLst>
          </p:cNvPr>
          <p:cNvSpPr txBox="1"/>
          <p:nvPr/>
        </p:nvSpPr>
        <p:spPr>
          <a:xfrm>
            <a:off x="562901" y="4607970"/>
            <a:ext cx="311426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Uvrštavanje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napona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čvora</a:t>
            </a:r>
            <a:r>
              <a:rPr lang="en-US" b="1" dirty="0">
                <a:solidFill>
                  <a:schemeClr val="tx2"/>
                </a:solidFill>
              </a:rPr>
              <a:t> I </a:t>
            </a:r>
            <a:r>
              <a:rPr lang="en-US" b="1" dirty="0" err="1">
                <a:solidFill>
                  <a:schemeClr val="tx2"/>
                </a:solidFill>
              </a:rPr>
              <a:t>admitanse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grane</a:t>
            </a:r>
            <a:endParaRPr lang="en-US" b="1">
              <a:solidFill>
                <a:schemeClr val="tx2"/>
              </a:solidFill>
            </a:endParaRPr>
          </a:p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3" name="Picture 12" descr="A group of math equations&#10;&#10;AI-generated content may be incorrect.">
            <a:extLst>
              <a:ext uri="{FF2B5EF4-FFF2-40B4-BE49-F238E27FC236}">
                <a16:creationId xmlns:a16="http://schemas.microsoft.com/office/drawing/2014/main" id="{7535EF39-0376-838F-F6D5-BA93307B7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226" y="3057297"/>
            <a:ext cx="3686175" cy="13239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9F3FCE-6DDB-7D44-5EC3-7C7F055CEF35}"/>
              </a:ext>
            </a:extLst>
          </p:cNvPr>
          <p:cNvSpPr txBox="1"/>
          <p:nvPr/>
        </p:nvSpPr>
        <p:spPr>
          <a:xfrm>
            <a:off x="8320787" y="2510656"/>
            <a:ext cx="31142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Izrazi</a:t>
            </a:r>
            <a:r>
              <a:rPr lang="en-US" b="1" dirty="0">
                <a:solidFill>
                  <a:schemeClr val="tx2"/>
                </a:solidFill>
              </a:rPr>
              <a:t> za PQ </a:t>
            </a:r>
            <a:r>
              <a:rPr lang="en-US" b="1" dirty="0" err="1">
                <a:solidFill>
                  <a:schemeClr val="tx2"/>
                </a:solidFill>
              </a:rPr>
              <a:t>čvor</a:t>
            </a:r>
            <a:endParaRPr lang="en-US" b="1" dirty="0">
              <a:solidFill>
                <a:schemeClr val="tx2"/>
              </a:solidFill>
            </a:endParaRPr>
          </a:p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8B03D2-DA62-DDE0-4E78-64ABAD4B7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907" y="5429477"/>
            <a:ext cx="3467100" cy="6000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1B2421-0150-BB9B-D913-ACB8BFC874E7}"/>
              </a:ext>
            </a:extLst>
          </p:cNvPr>
          <p:cNvSpPr txBox="1"/>
          <p:nvPr/>
        </p:nvSpPr>
        <p:spPr>
          <a:xfrm>
            <a:off x="8632843" y="4883741"/>
            <a:ext cx="31142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Izraz</a:t>
            </a:r>
            <a:r>
              <a:rPr lang="en-US" b="1" dirty="0">
                <a:solidFill>
                  <a:schemeClr val="tx2"/>
                </a:solidFill>
              </a:rPr>
              <a:t> za PV </a:t>
            </a:r>
            <a:r>
              <a:rPr lang="en-US" b="1" dirty="0" err="1">
                <a:solidFill>
                  <a:schemeClr val="tx2"/>
                </a:solidFill>
              </a:rPr>
              <a:t>čvor</a:t>
            </a:r>
          </a:p>
          <a:p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51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ED1E-896D-EA20-EC53-A88665E77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455" y="831953"/>
            <a:ext cx="9613392" cy="1033112"/>
          </a:xfrm>
        </p:spPr>
        <p:txBody>
          <a:bodyPr>
            <a:normAutofit/>
          </a:bodyPr>
          <a:lstStyle/>
          <a:p>
            <a:r>
              <a:rPr lang="en-US" sz="5000" b="1" err="1"/>
              <a:t>Dinamički</a:t>
            </a:r>
            <a:r>
              <a:rPr lang="en-US" sz="5000" b="1"/>
              <a:t> model </a:t>
            </a:r>
            <a:r>
              <a:rPr lang="en-US" sz="5000" b="1" err="1"/>
              <a:t>generatora</a:t>
            </a:r>
            <a:endParaRPr lang="en-US" sz="5000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17409-4FD5-D899-E121-D5C7F7A83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26" y="1713556"/>
            <a:ext cx="7272528" cy="68405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err="1"/>
              <a:t>Kompletan</a:t>
            </a:r>
            <a:r>
              <a:rPr lang="en-US" b="1"/>
              <a:t> model </a:t>
            </a:r>
            <a:r>
              <a:rPr lang="en-US" b="1" err="1"/>
              <a:t>generatora</a:t>
            </a:r>
            <a:r>
              <a:rPr lang="en-US" b="1"/>
              <a:t> je </a:t>
            </a:r>
            <a:r>
              <a:rPr lang="en-US" b="1" err="1"/>
              <a:t>opisan</a:t>
            </a:r>
            <a:r>
              <a:rPr lang="en-US" b="1"/>
              <a:t> </a:t>
            </a:r>
            <a:r>
              <a:rPr lang="en-US" b="1" err="1"/>
              <a:t>sa</a:t>
            </a:r>
            <a:r>
              <a:rPr lang="en-US" b="1"/>
              <a:t> 7 </a:t>
            </a:r>
            <a:r>
              <a:rPr lang="en-US" b="1" err="1"/>
              <a:t>diferencijalnih</a:t>
            </a:r>
            <a:r>
              <a:rPr lang="en-US" b="1"/>
              <a:t> </a:t>
            </a:r>
            <a:r>
              <a:rPr lang="en-US" b="1" err="1"/>
              <a:t>jednačina</a:t>
            </a:r>
            <a:r>
              <a:rPr lang="en-US" b="1"/>
              <a:t> </a:t>
            </a:r>
            <a:r>
              <a:rPr lang="en-US" b="1" err="1"/>
              <a:t>podijeljenih</a:t>
            </a:r>
            <a:r>
              <a:rPr lang="en-US" b="1"/>
              <a:t> u 3 </a:t>
            </a:r>
            <a:r>
              <a:rPr lang="en-US" b="1" err="1"/>
              <a:t>funkcionalna</a:t>
            </a:r>
            <a:r>
              <a:rPr lang="en-US" b="1"/>
              <a:t> </a:t>
            </a:r>
            <a:r>
              <a:rPr lang="en-US" b="1" err="1"/>
              <a:t>podsistema</a:t>
            </a:r>
            <a:r>
              <a:rPr lang="en-US" b="1"/>
              <a:t>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85D919-A3D5-9F64-F185-264872E67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D12F2-58AD-5755-F866-FC85394316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DD6A4-C8E0-BD91-A780-A7638E9AD40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EE4FD85-5D6D-4FA4-A373-26EC0F227592}" type="datetime1">
              <a:rPr lang="en-US" smtClean="0"/>
              <a:pPr/>
              <a:t>7/6/2026</a:t>
            </a:fld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CA4311B-A3F3-7BD0-FF72-4B30FE5CA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6" y="3150961"/>
            <a:ext cx="4851853" cy="139065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CD6745-E2DA-2AD0-AE7A-50782E30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689" y="3154136"/>
            <a:ext cx="4362450" cy="1333500"/>
          </a:xfrm>
          <a:prstGeom prst="rect">
            <a:avLst/>
          </a:prstGeom>
        </p:spPr>
      </p:pic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52880C4-AB13-DD95-5792-EFC7F861E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913" y="5011511"/>
            <a:ext cx="90201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7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8E2F-F2E8-4C14-1E85-48A3826AB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026" y="730353"/>
            <a:ext cx="9613392" cy="2978026"/>
          </a:xfrm>
        </p:spPr>
        <p:txBody>
          <a:bodyPr>
            <a:noAutofit/>
          </a:bodyPr>
          <a:lstStyle/>
          <a:p>
            <a:r>
              <a:rPr lang="en-US" sz="6000" b="1" err="1">
                <a:solidFill>
                  <a:srgbClr val="FFFFFF"/>
                </a:solidFill>
                <a:ea typeface="+mj-lt"/>
                <a:cs typeface="+mj-lt"/>
              </a:rPr>
              <a:t>Konstruisanje</a:t>
            </a:r>
            <a:r>
              <a:rPr lang="en-US" sz="6000" b="1">
                <a:solidFill>
                  <a:srgbClr val="FFFFFF"/>
                </a:solidFill>
                <a:ea typeface="+mj-lt"/>
                <a:cs typeface="+mj-lt"/>
              </a:rPr>
              <a:t> DAE </a:t>
            </a:r>
            <a:r>
              <a:rPr lang="en-US" sz="6000" b="1" err="1">
                <a:solidFill>
                  <a:srgbClr val="FFFFFF"/>
                </a:solidFill>
                <a:ea typeface="+mj-lt"/>
                <a:cs typeface="+mj-lt"/>
              </a:rPr>
              <a:t>modela</a:t>
            </a:r>
            <a:r>
              <a:rPr lang="en-US" sz="6000" b="1">
                <a:solidFill>
                  <a:srgbClr val="FFFFFF"/>
                </a:solidFill>
                <a:ea typeface="+mj-lt"/>
                <a:cs typeface="+mj-lt"/>
              </a:rPr>
              <a:t> u </a:t>
            </a:r>
            <a:r>
              <a:rPr lang="en-US" sz="6000" b="1" err="1">
                <a:solidFill>
                  <a:srgbClr val="FFFFFF"/>
                </a:solidFill>
                <a:ea typeface="+mj-lt"/>
                <a:cs typeface="+mj-lt"/>
              </a:rPr>
              <a:t>dTwin</a:t>
            </a:r>
            <a:r>
              <a:rPr lang="en-US" sz="6000" b="1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6000" b="1" err="1">
                <a:solidFill>
                  <a:srgbClr val="FFFFFF"/>
                </a:solidFill>
                <a:ea typeface="+mj-lt"/>
                <a:cs typeface="+mj-lt"/>
              </a:rPr>
              <a:t>softveru</a:t>
            </a:r>
            <a:endParaRPr lang="en-US" sz="6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BD388-247F-ABE4-D0C9-A127E1ACC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2" y="3549613"/>
            <a:ext cx="8738470" cy="227336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err="1"/>
              <a:t>Struktura</a:t>
            </a:r>
            <a:r>
              <a:rPr lang="en-US" b="1"/>
              <a:t> </a:t>
            </a:r>
            <a:r>
              <a:rPr lang="en-US" b="1" err="1"/>
              <a:t>generisanog</a:t>
            </a:r>
            <a:r>
              <a:rPr lang="en-US" b="1"/>
              <a:t> </a:t>
            </a:r>
            <a:r>
              <a:rPr lang="en-US" b="1" err="1"/>
              <a:t>dTwin</a:t>
            </a:r>
            <a:r>
              <a:rPr lang="en-US" b="1"/>
              <a:t> </a:t>
            </a:r>
            <a:r>
              <a:rPr lang="en-US" b="1" err="1"/>
              <a:t>modela</a:t>
            </a:r>
            <a:r>
              <a:rPr lang="en-US" b="1"/>
              <a:t> : </a:t>
            </a:r>
          </a:p>
          <a:p>
            <a:pPr marL="342900" indent="-342900">
              <a:buChar char="•"/>
            </a:pPr>
            <a:r>
              <a:rPr lang="en-US" b="1"/>
              <a:t>Vars, Params : Deklaracije </a:t>
            </a:r>
            <a:r>
              <a:rPr lang="en-US" b="1" err="1"/>
              <a:t>nepoznatih</a:t>
            </a:r>
            <a:r>
              <a:rPr lang="en-US" b="1"/>
              <a:t> </a:t>
            </a:r>
            <a:r>
              <a:rPr lang="en-US" b="1" err="1"/>
              <a:t>stanja</a:t>
            </a:r>
            <a:r>
              <a:rPr lang="en-US" b="1"/>
              <a:t> I </a:t>
            </a:r>
            <a:r>
              <a:rPr lang="en-US" b="1" err="1"/>
              <a:t>topologije</a:t>
            </a:r>
            <a:r>
              <a:rPr lang="en-US" b="1"/>
              <a:t> </a:t>
            </a:r>
            <a:r>
              <a:rPr lang="en-US" b="1" err="1"/>
              <a:t>mreže</a:t>
            </a:r>
            <a:r>
              <a:rPr lang="en-US" b="1"/>
              <a:t> (</a:t>
            </a:r>
            <a:r>
              <a:rPr lang="en-US" b="1" err="1"/>
              <a:t>Ybus</a:t>
            </a:r>
            <a:r>
              <a:rPr lang="en-US" b="1"/>
              <a:t>)</a:t>
            </a:r>
          </a:p>
          <a:p>
            <a:pPr marL="342900" indent="-342900">
              <a:buChar char="•"/>
            </a:pPr>
            <a:r>
              <a:rPr lang="en-US" b="1" err="1"/>
              <a:t>Submodel</a:t>
            </a:r>
            <a:r>
              <a:rPr lang="en-US" b="1"/>
              <a:t> : </a:t>
            </a:r>
            <a:r>
              <a:rPr lang="en-US" b="1" err="1"/>
              <a:t>Izvršava</a:t>
            </a:r>
            <a:r>
              <a:rPr lang="en-US" b="1"/>
              <a:t> </a:t>
            </a:r>
            <a:r>
              <a:rPr lang="en-US" b="1" err="1"/>
              <a:t>inicijalne</a:t>
            </a:r>
            <a:r>
              <a:rPr lang="en-US" b="1"/>
              <a:t> </a:t>
            </a:r>
            <a:r>
              <a:rPr lang="en-US" b="1" err="1"/>
              <a:t>tokove</a:t>
            </a:r>
            <a:r>
              <a:rPr lang="en-US" b="1"/>
              <a:t> </a:t>
            </a:r>
            <a:r>
              <a:rPr lang="en-US" b="1" err="1"/>
              <a:t>snage</a:t>
            </a:r>
            <a:r>
              <a:rPr lang="en-US" b="1"/>
              <a:t> (</a:t>
            </a:r>
            <a:r>
              <a:rPr lang="en-US" b="1" err="1"/>
              <a:t>samo</a:t>
            </a:r>
            <a:r>
              <a:rPr lang="en-US" b="1"/>
              <a:t> </a:t>
            </a:r>
            <a:r>
              <a:rPr lang="en-US" b="1" err="1"/>
              <a:t>jednom</a:t>
            </a:r>
            <a:r>
              <a:rPr lang="en-US" b="1"/>
              <a:t>)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početku</a:t>
            </a:r>
            <a:r>
              <a:rPr lang="en-US" b="1"/>
              <a:t> I </a:t>
            </a:r>
            <a:r>
              <a:rPr lang="en-US" b="1" err="1"/>
              <a:t>predaje</a:t>
            </a:r>
            <a:r>
              <a:rPr lang="en-US" b="1"/>
              <a:t> </a:t>
            </a:r>
            <a:r>
              <a:rPr lang="en-US" b="1" err="1"/>
              <a:t>stabilne</a:t>
            </a:r>
            <a:r>
              <a:rPr lang="en-US" b="1"/>
              <a:t> </a:t>
            </a:r>
            <a:r>
              <a:rPr lang="en-US" b="1" err="1"/>
              <a:t>početne</a:t>
            </a:r>
            <a:r>
              <a:rPr lang="en-US" b="1"/>
              <a:t> </a:t>
            </a:r>
            <a:r>
              <a:rPr lang="en-US" b="1" err="1"/>
              <a:t>uslove</a:t>
            </a:r>
            <a:r>
              <a:rPr lang="en-US" b="1"/>
              <a:t> </a:t>
            </a:r>
            <a:r>
              <a:rPr lang="en-US" b="1" err="1"/>
              <a:t>glavnom</a:t>
            </a:r>
            <a:r>
              <a:rPr lang="en-US" b="1"/>
              <a:t> </a:t>
            </a:r>
            <a:r>
              <a:rPr lang="en-US" b="1" err="1"/>
              <a:t>modelu</a:t>
            </a:r>
            <a:endParaRPr lang="en-US" b="1"/>
          </a:p>
          <a:p>
            <a:pPr marL="342900" indent="-342900">
              <a:buChar char="•"/>
            </a:pPr>
            <a:r>
              <a:rPr lang="en-US" b="1"/>
              <a:t>ODEs &amp; NLEs : 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Integracija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diferencijalnih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jednačina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(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metoda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RK2)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i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simultano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rješavanje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nelinearnih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jednačina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mreže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u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svakom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koraku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D7026-0F6D-FB23-28DD-55728F330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95AF6-2D2C-D5E7-098B-1EDE4E1AA8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36B0A2-F7BD-A2F7-3C27-D629B6B389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91A30-627C-01F7-90EF-82B6C41EEFC8}"/>
              </a:ext>
            </a:extLst>
          </p:cNvPr>
          <p:cNvSpPr txBox="1"/>
          <p:nvPr/>
        </p:nvSpPr>
        <p:spPr>
          <a:xfrm>
            <a:off x="585304" y="2528956"/>
            <a:ext cx="96078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Sistem</a:t>
            </a:r>
            <a:r>
              <a:rPr lang="en-US" b="1" dirty="0"/>
              <a:t> se </a:t>
            </a:r>
            <a:r>
              <a:rPr lang="en-US" b="1" dirty="0" err="1"/>
              <a:t>posmatra</a:t>
            </a:r>
            <a:r>
              <a:rPr lang="en-US" b="1" dirty="0"/>
              <a:t> </a:t>
            </a:r>
            <a:r>
              <a:rPr lang="en-US" b="1" dirty="0" err="1"/>
              <a:t>kao</a:t>
            </a:r>
            <a:r>
              <a:rPr lang="en-US" b="1" dirty="0"/>
              <a:t> DAE (</a:t>
            </a:r>
            <a:r>
              <a:rPr lang="en-US" b="1" dirty="0" err="1"/>
              <a:t>Diferencijalni-algebarski</a:t>
            </a:r>
            <a:r>
              <a:rPr lang="en-US" b="1" dirty="0"/>
              <a:t>) </a:t>
            </a:r>
            <a:r>
              <a:rPr lang="en-US" b="1" dirty="0" err="1"/>
              <a:t>gdje</a:t>
            </a:r>
            <a:r>
              <a:rPr lang="en-US" b="1" dirty="0"/>
              <a:t> </a:t>
            </a:r>
            <a:r>
              <a:rPr lang="en-US" b="1" dirty="0" err="1"/>
              <a:t>diferencijalne</a:t>
            </a:r>
            <a:r>
              <a:rPr lang="en-US" b="1" dirty="0"/>
              <a:t> </a:t>
            </a:r>
            <a:r>
              <a:rPr lang="en-US" b="1" dirty="0" err="1"/>
              <a:t>jednačine</a:t>
            </a:r>
            <a:r>
              <a:rPr lang="en-US" b="1" dirty="0"/>
              <a:t> </a:t>
            </a:r>
            <a:r>
              <a:rPr lang="en-US" b="1" dirty="0" err="1"/>
              <a:t>diktiraju</a:t>
            </a:r>
            <a:r>
              <a:rPr lang="en-US" b="1" dirty="0"/>
              <a:t> </a:t>
            </a:r>
            <a:r>
              <a:rPr lang="en-US" b="1" dirty="0" err="1"/>
              <a:t>stanja</a:t>
            </a:r>
            <a:r>
              <a:rPr lang="en-US" b="1" dirty="0"/>
              <a:t> </a:t>
            </a:r>
            <a:r>
              <a:rPr lang="en-US" b="1" dirty="0" err="1"/>
              <a:t>generatora</a:t>
            </a:r>
            <a:r>
              <a:rPr lang="en-US" b="1" dirty="0"/>
              <a:t> , </a:t>
            </a:r>
            <a:r>
              <a:rPr lang="en-US" b="1" dirty="0" err="1"/>
              <a:t>a</a:t>
            </a:r>
            <a:r>
              <a:rPr lang="en-US" b="1" dirty="0"/>
              <a:t> </a:t>
            </a:r>
            <a:r>
              <a:rPr lang="en-US" b="1" dirty="0" err="1"/>
              <a:t>algebarske</a:t>
            </a:r>
            <a:r>
              <a:rPr lang="en-US" b="1" dirty="0"/>
              <a:t> </a:t>
            </a:r>
            <a:r>
              <a:rPr lang="en-US" b="1" dirty="0" err="1"/>
              <a:t>balans</a:t>
            </a:r>
            <a:r>
              <a:rPr lang="en-US" b="1" dirty="0"/>
              <a:t> </a:t>
            </a:r>
            <a:r>
              <a:rPr lang="en-US" b="1" dirty="0" err="1"/>
              <a:t>struja</a:t>
            </a:r>
            <a:r>
              <a:rPr lang="en-US" b="1" dirty="0"/>
              <a:t> u </a:t>
            </a:r>
            <a:r>
              <a:rPr lang="en-US" b="1" dirty="0" err="1"/>
              <a:t>mreži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0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443D-0A96-1BBE-22B1-80DF9BFDD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2026" y="766638"/>
            <a:ext cx="9613392" cy="1388712"/>
          </a:xfrm>
        </p:spPr>
        <p:txBody>
          <a:bodyPr/>
          <a:lstStyle/>
          <a:p>
            <a:r>
              <a:rPr lang="en-US" b="1"/>
              <a:t>GUI aplikacija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02347-02C1-123C-D4DA-F1DD90EC7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054" y="1989327"/>
            <a:ext cx="6437957" cy="419650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err="1"/>
              <a:t>Automatizacija</a:t>
            </a:r>
            <a:r>
              <a:rPr lang="en-US" b="1"/>
              <a:t> </a:t>
            </a:r>
            <a:r>
              <a:rPr lang="en-US" b="1" err="1"/>
              <a:t>procesa</a:t>
            </a:r>
            <a:r>
              <a:rPr lang="en-US" b="1"/>
              <a:t> :</a:t>
            </a:r>
            <a:r>
              <a:rPr lang="en-US"/>
              <a:t> 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Uklanja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potrebu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za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ručnim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pisanjem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stotina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nelinearnih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diferencijalno-algebarskih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jednačina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za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složene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EES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mreže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 b="1" err="1"/>
              <a:t>Inicijalni</a:t>
            </a:r>
            <a:r>
              <a:rPr lang="en-US" b="1"/>
              <a:t> </a:t>
            </a:r>
            <a:r>
              <a:rPr lang="en-US" b="1" err="1"/>
              <a:t>korak</a:t>
            </a:r>
            <a:r>
              <a:rPr lang="en-US" b="1"/>
              <a:t> </a:t>
            </a:r>
            <a:r>
              <a:rPr lang="en-US" b="1" err="1"/>
              <a:t>simulacije</a:t>
            </a:r>
            <a:r>
              <a:rPr lang="en-US" b="1"/>
              <a:t> : </a:t>
            </a:r>
          </a:p>
          <a:p>
            <a:pPr marL="342900" indent="-342900">
              <a:buChar char="•"/>
            </a:pPr>
            <a:r>
              <a:rPr lang="en-US" err="1"/>
              <a:t>Korisnik</a:t>
            </a:r>
            <a:r>
              <a:rPr lang="en-US"/>
              <a:t> </a:t>
            </a:r>
            <a:r>
              <a:rPr lang="en-US" err="1"/>
              <a:t>unosi</a:t>
            </a:r>
            <a:r>
              <a:rPr lang="en-US"/>
              <a:t> </a:t>
            </a:r>
            <a:r>
              <a:rPr lang="en-US" err="1"/>
              <a:t>putanju</a:t>
            </a:r>
            <a:r>
              <a:rPr lang="en-US"/>
              <a:t> za MATLAB </a:t>
            </a:r>
            <a:r>
              <a:rPr lang="en-US" err="1"/>
              <a:t>case.m</a:t>
            </a:r>
            <a:r>
              <a:rPr lang="en-US"/>
              <a:t> file koji </a:t>
            </a:r>
            <a:r>
              <a:rPr lang="en-US" err="1"/>
              <a:t>opisuje</a:t>
            </a:r>
            <a:r>
              <a:rPr lang="en-US"/>
              <a:t> </a:t>
            </a:r>
            <a:r>
              <a:rPr lang="en-US" err="1"/>
              <a:t>topologiju</a:t>
            </a:r>
            <a:r>
              <a:rPr lang="en-US"/>
              <a:t> I </a:t>
            </a:r>
            <a:r>
              <a:rPr lang="en-US" err="1"/>
              <a:t>statičke</a:t>
            </a:r>
            <a:r>
              <a:rPr lang="en-US"/>
              <a:t> </a:t>
            </a:r>
            <a:r>
              <a:rPr lang="en-US" err="1"/>
              <a:t>parametre</a:t>
            </a:r>
            <a:r>
              <a:rPr lang="en-US"/>
              <a:t> </a:t>
            </a:r>
            <a:r>
              <a:rPr lang="en-US" err="1"/>
              <a:t>sistema</a:t>
            </a:r>
            <a:endParaRPr lang="en-US"/>
          </a:p>
          <a:p>
            <a:pPr marL="342900" indent="-342900">
              <a:buChar char="•"/>
            </a:pPr>
            <a:r>
              <a:rPr lang="en-US" err="1"/>
              <a:t>Definiše</a:t>
            </a:r>
            <a:r>
              <a:rPr lang="en-US"/>
              <a:t> se </a:t>
            </a:r>
            <a:r>
              <a:rPr lang="en-US" err="1"/>
              <a:t>odredišnja</a:t>
            </a:r>
            <a:r>
              <a:rPr lang="en-US"/>
              <a:t> </a:t>
            </a:r>
            <a:r>
              <a:rPr lang="en-US" err="1"/>
              <a:t>putanja</a:t>
            </a:r>
            <a:r>
              <a:rPr lang="en-US"/>
              <a:t> .</a:t>
            </a:r>
            <a:r>
              <a:rPr lang="en-US" err="1"/>
              <a:t>dmodl</a:t>
            </a:r>
            <a:r>
              <a:rPr lang="en-US"/>
              <a:t> file-a</a:t>
            </a:r>
          </a:p>
          <a:p>
            <a:r>
              <a:rPr lang="en-US" b="1" err="1"/>
              <a:t>Validacija</a:t>
            </a:r>
            <a:r>
              <a:rPr lang="en-US" b="1"/>
              <a:t> (</a:t>
            </a:r>
            <a:r>
              <a:rPr lang="en-US" b="1" err="1"/>
              <a:t>statusna</a:t>
            </a:r>
            <a:r>
              <a:rPr lang="en-US" b="1"/>
              <a:t> </a:t>
            </a:r>
            <a:r>
              <a:rPr lang="en-US" b="1" err="1"/>
              <a:t>traka</a:t>
            </a:r>
            <a:r>
              <a:rPr lang="en-US" b="1"/>
              <a:t>) :</a:t>
            </a:r>
            <a:r>
              <a:rPr lang="en-US"/>
              <a:t> </a:t>
            </a:r>
            <a:r>
              <a:rPr lang="en-US" err="1"/>
              <a:t>Aplikacija</a:t>
            </a:r>
            <a:r>
              <a:rPr lang="en-US"/>
              <a:t> u </a:t>
            </a:r>
            <a:r>
              <a:rPr lang="en-US" err="1"/>
              <a:t>realnom</a:t>
            </a:r>
            <a:r>
              <a:rPr lang="en-US"/>
              <a:t> </a:t>
            </a:r>
            <a:r>
              <a:rPr lang="en-US" err="1"/>
              <a:t>vremenu</a:t>
            </a:r>
            <a:r>
              <a:rPr lang="en-US"/>
              <a:t> </a:t>
            </a:r>
            <a:r>
              <a:rPr lang="en-US" err="1"/>
              <a:t>provjerava</a:t>
            </a:r>
            <a:r>
              <a:rPr lang="en-US"/>
              <a:t> </a:t>
            </a:r>
            <a:r>
              <a:rPr lang="en-US" err="1"/>
              <a:t>ispravnost</a:t>
            </a:r>
            <a:r>
              <a:rPr lang="en-US"/>
              <a:t> </a:t>
            </a:r>
            <a:r>
              <a:rPr lang="en-US" err="1"/>
              <a:t>strukture</a:t>
            </a:r>
            <a:r>
              <a:rPr lang="en-US"/>
              <a:t> </a:t>
            </a:r>
            <a:r>
              <a:rPr lang="en-US" err="1"/>
              <a:t>fajla</a:t>
            </a:r>
            <a:r>
              <a:rPr lang="en-US"/>
              <a:t>. Ako je </a:t>
            </a:r>
            <a:r>
              <a:rPr lang="en-US" err="1"/>
              <a:t>ispravan</a:t>
            </a:r>
            <a:r>
              <a:rPr lang="en-US"/>
              <a:t>, </a:t>
            </a:r>
            <a:r>
              <a:rPr lang="en-US" err="1"/>
              <a:t>detektuje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ispisuje</a:t>
            </a:r>
            <a:r>
              <a:rPr lang="en-US"/>
              <a:t> </a:t>
            </a:r>
            <a:r>
              <a:rPr lang="en-US" err="1"/>
              <a:t>tačan</a:t>
            </a:r>
            <a:r>
              <a:rPr lang="en-US"/>
              <a:t> </a:t>
            </a:r>
            <a:r>
              <a:rPr lang="en-US" err="1"/>
              <a:t>broj</a:t>
            </a:r>
            <a:r>
              <a:rPr lang="en-US"/>
              <a:t> </a:t>
            </a:r>
            <a:r>
              <a:rPr lang="en-US" err="1"/>
              <a:t>čvorova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generatora</a:t>
            </a:r>
            <a:r>
              <a:rPr lang="en-US"/>
              <a:t> u </a:t>
            </a:r>
            <a:r>
              <a:rPr lang="en-US" err="1"/>
              <a:t>sistemu</a:t>
            </a:r>
            <a:r>
              <a:rPr lang="en-US"/>
              <a:t>, </a:t>
            </a:r>
            <a:r>
              <a:rPr lang="en-US" err="1"/>
              <a:t>sprečavajući</a:t>
            </a:r>
            <a:r>
              <a:rPr lang="en-US"/>
              <a:t> </a:t>
            </a:r>
            <a:r>
              <a:rPr lang="en-US" err="1"/>
              <a:t>greške</a:t>
            </a:r>
            <a:r>
              <a:rPr lang="en-US"/>
              <a:t> u </a:t>
            </a:r>
            <a:r>
              <a:rPr lang="en-US" err="1"/>
              <a:t>ranom</a:t>
            </a:r>
            <a:r>
              <a:rPr lang="en-US"/>
              <a:t> </a:t>
            </a:r>
            <a:r>
              <a:rPr lang="en-US" err="1"/>
              <a:t>koraku</a:t>
            </a:r>
            <a:r>
              <a:rPr lang="en-US"/>
              <a:t>.</a:t>
            </a:r>
            <a:endParaRPr lang="en-US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D8BF9-F1DC-A5DD-D309-75B4D9586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2227E-E03C-99E0-C6E3-5E6483F82C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EB4724-0F8D-D387-DC67-F899782A75C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1F88E0-99CE-C56A-076C-3AF5C619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319" y="1901825"/>
            <a:ext cx="4595133" cy="347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4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40C5-420E-C76C-C96D-1C993AA3A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398" y="839210"/>
            <a:ext cx="10672934" cy="967798"/>
          </a:xfrm>
        </p:spPr>
        <p:txBody>
          <a:bodyPr>
            <a:normAutofit/>
          </a:bodyPr>
          <a:lstStyle/>
          <a:p>
            <a:pPr algn="ctr"/>
            <a:r>
              <a:rPr lang="en-US" sz="4500" b="1" err="1"/>
              <a:t>Podešavanje</a:t>
            </a:r>
            <a:r>
              <a:rPr lang="en-US" sz="4500" b="1"/>
              <a:t> I </a:t>
            </a:r>
            <a:r>
              <a:rPr lang="en-US" sz="4500" b="1" err="1"/>
              <a:t>konfiguracija</a:t>
            </a:r>
            <a:r>
              <a:rPr lang="en-US" sz="4500" b="1"/>
              <a:t> </a:t>
            </a:r>
            <a:r>
              <a:rPr lang="en-US" sz="4500" b="1" err="1"/>
              <a:t>modela</a:t>
            </a:r>
            <a:endParaRPr lang="en-US" sz="45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574C-E7B8-05D4-6197-FF635E98B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1855" y="1894984"/>
            <a:ext cx="6227500" cy="42182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Char char="•"/>
            </a:pPr>
            <a:r>
              <a:rPr lang="en-US" b="1" err="1"/>
              <a:t>Izbor</a:t>
            </a:r>
            <a:r>
              <a:rPr lang="en-US" b="1"/>
              <a:t> </a:t>
            </a:r>
            <a:r>
              <a:rPr lang="en-US" b="1" err="1"/>
              <a:t>grafika</a:t>
            </a:r>
            <a:r>
              <a:rPr lang="en-US" b="1"/>
              <a:t> I </a:t>
            </a:r>
            <a:r>
              <a:rPr lang="en-US" b="1" err="1"/>
              <a:t>selekcija</a:t>
            </a:r>
            <a:r>
              <a:rPr lang="en-US" b="1"/>
              <a:t> </a:t>
            </a:r>
            <a:r>
              <a:rPr lang="en-US" b="1" err="1"/>
              <a:t>čvorova</a:t>
            </a:r>
            <a:r>
              <a:rPr lang="en-US" b="1"/>
              <a:t> : 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Korisnik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bira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koje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veličine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želi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pratiti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(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brzine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snage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uglove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napone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)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i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filtrira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specifične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čvorove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radi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FFFFFF"/>
                </a:solidFill>
                <a:ea typeface="+mn-lt"/>
                <a:cs typeface="+mn-lt"/>
              </a:rPr>
              <a:t>preglednosti</a:t>
            </a:r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  <a:p>
            <a:pPr marL="342900" indent="-342900">
              <a:buChar char="•"/>
            </a:pPr>
            <a:r>
              <a:rPr lang="en-US" b="1" err="1">
                <a:solidFill>
                  <a:srgbClr val="FFFFFF"/>
                </a:solidFill>
              </a:rPr>
              <a:t>Upravljanje</a:t>
            </a:r>
            <a:r>
              <a:rPr lang="en-US" b="1">
                <a:solidFill>
                  <a:srgbClr val="FFFFFF"/>
                </a:solidFill>
              </a:rPr>
              <a:t> </a:t>
            </a:r>
            <a:r>
              <a:rPr lang="en-US" b="1" err="1">
                <a:solidFill>
                  <a:srgbClr val="FFFFFF"/>
                </a:solidFill>
              </a:rPr>
              <a:t>poremećajima</a:t>
            </a:r>
            <a:r>
              <a:rPr lang="en-US" b="1">
                <a:solidFill>
                  <a:srgbClr val="FFFFFF"/>
                </a:solidFill>
              </a:rPr>
              <a:t> (</a:t>
            </a:r>
            <a:r>
              <a:rPr lang="en-US" b="1" err="1">
                <a:solidFill>
                  <a:srgbClr val="FFFFFF"/>
                </a:solidFill>
              </a:rPr>
              <a:t>teret</a:t>
            </a:r>
            <a:r>
              <a:rPr lang="en-US" b="1">
                <a:solidFill>
                  <a:srgbClr val="FFFFFF"/>
                </a:solidFill>
              </a:rPr>
              <a:t>) : </a:t>
            </a:r>
          </a:p>
          <a:p>
            <a:pPr marL="1257300" lvl="1" indent="-342900">
              <a:buFont typeface="Courier New" panose="020B0604020202020204" pitchFamily="34" charset="0"/>
              <a:buChar char="o"/>
            </a:pPr>
            <a:r>
              <a:rPr lang="en-US" b="1" dirty="0" err="1">
                <a:solidFill>
                  <a:srgbClr val="FFFFFF"/>
                </a:solidFill>
              </a:rPr>
              <a:t>Manualni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unos</a:t>
            </a:r>
            <a:r>
              <a:rPr lang="en-US" b="1" dirty="0">
                <a:solidFill>
                  <a:srgbClr val="FFFFFF"/>
                </a:solidFill>
              </a:rPr>
              <a:t>: Za </a:t>
            </a:r>
            <a:r>
              <a:rPr lang="en-US" b="1" dirty="0" err="1">
                <a:solidFill>
                  <a:srgbClr val="FFFFFF"/>
                </a:solidFill>
              </a:rPr>
              <a:t>manje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mreže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omogućeno</a:t>
            </a:r>
            <a:r>
              <a:rPr lang="en-US" b="1" dirty="0">
                <a:solidFill>
                  <a:srgbClr val="FFFFFF"/>
                </a:solidFill>
              </a:rPr>
              <a:t> je </a:t>
            </a:r>
            <a:r>
              <a:rPr lang="en-US" b="1" dirty="0" err="1">
                <a:solidFill>
                  <a:srgbClr val="FFFFFF"/>
                </a:solidFill>
              </a:rPr>
              <a:t>direktno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podešavanje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trenutka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skoka</a:t>
            </a:r>
            <a:r>
              <a:rPr lang="en-US" b="1" dirty="0">
                <a:solidFill>
                  <a:srgbClr val="FFFFFF"/>
                </a:solidFill>
              </a:rPr>
              <a:t>/pada </a:t>
            </a:r>
            <a:r>
              <a:rPr lang="en-US" b="1" dirty="0" err="1">
                <a:solidFill>
                  <a:srgbClr val="FFFFFF"/>
                </a:solidFill>
              </a:rPr>
              <a:t>opterećenja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kroz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polja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interfejsa</a:t>
            </a:r>
            <a:r>
              <a:rPr lang="en-US" b="1" dirty="0">
                <a:solidFill>
                  <a:srgbClr val="FFFFFF"/>
                </a:solidFill>
              </a:rPr>
              <a:t>.</a:t>
            </a:r>
          </a:p>
          <a:p>
            <a:pPr marL="1257300" lvl="1" indent="-342900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rgbClr val="FFFFFF"/>
                </a:solidFill>
              </a:rPr>
              <a:t>Eksterni </a:t>
            </a:r>
            <a:r>
              <a:rPr lang="en-US" b="1" dirty="0" err="1">
                <a:solidFill>
                  <a:srgbClr val="FFFFFF"/>
                </a:solidFill>
              </a:rPr>
              <a:t>fajlovi</a:t>
            </a:r>
            <a:r>
              <a:rPr lang="en-US" b="1" dirty="0">
                <a:solidFill>
                  <a:srgbClr val="FFFFFF"/>
                </a:solidFill>
              </a:rPr>
              <a:t> (</a:t>
            </a:r>
            <a:r>
              <a:rPr lang="en-US" b="1" dirty="0" err="1">
                <a:solidFill>
                  <a:srgbClr val="FFFFFF"/>
                </a:solidFill>
              </a:rPr>
              <a:t>Skalabilnost</a:t>
            </a:r>
            <a:r>
              <a:rPr lang="en-US" b="1" dirty="0">
                <a:solidFill>
                  <a:srgbClr val="FFFFFF"/>
                </a:solidFill>
              </a:rPr>
              <a:t>): Za </a:t>
            </a:r>
            <a:r>
              <a:rPr lang="en-US" b="1" dirty="0" err="1">
                <a:solidFill>
                  <a:srgbClr val="FFFFFF"/>
                </a:solidFill>
              </a:rPr>
              <a:t>sisteme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sa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stotinama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čvorova</a:t>
            </a:r>
            <a:r>
              <a:rPr lang="en-US" b="1" dirty="0">
                <a:solidFill>
                  <a:srgbClr val="FFFFFF"/>
                </a:solidFill>
              </a:rPr>
              <a:t>, </a:t>
            </a:r>
            <a:r>
              <a:rPr lang="en-US" b="1" dirty="0" err="1">
                <a:solidFill>
                  <a:srgbClr val="FFFFFF"/>
                </a:solidFill>
              </a:rPr>
              <a:t>aplikacija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povlači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strukturirane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tekstualne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fajlove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parametara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generatora</a:t>
            </a:r>
            <a:r>
              <a:rPr lang="en-US" b="1" dirty="0">
                <a:solidFill>
                  <a:srgbClr val="FFFFFF"/>
                </a:solidFill>
              </a:rPr>
              <a:t> (</a:t>
            </a:r>
            <a:r>
              <a:rPr lang="en-US" b="1" dirty="0" err="1">
                <a:solidFill>
                  <a:srgbClr val="FFFFFF"/>
                </a:solidFill>
              </a:rPr>
              <a:t>gen_params</a:t>
            </a:r>
            <a:r>
              <a:rPr lang="en-US" b="1" dirty="0">
                <a:solidFill>
                  <a:srgbClr val="FFFFFF"/>
                </a:solidFill>
              </a:rPr>
              <a:t>) </a:t>
            </a:r>
            <a:r>
              <a:rPr lang="en-US" b="1" dirty="0" err="1">
                <a:solidFill>
                  <a:srgbClr val="FFFFFF"/>
                </a:solidFill>
              </a:rPr>
              <a:t>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poremećaja</a:t>
            </a:r>
            <a:r>
              <a:rPr lang="en-US" b="1" dirty="0">
                <a:solidFill>
                  <a:srgbClr val="FFFFFF"/>
                </a:solidFill>
              </a:rPr>
              <a:t> (</a:t>
            </a:r>
            <a:r>
              <a:rPr lang="en-US" b="1" dirty="0" err="1">
                <a:solidFill>
                  <a:srgbClr val="FFFFFF"/>
                </a:solidFill>
              </a:rPr>
              <a:t>disturbance_case</a:t>
            </a:r>
            <a:r>
              <a:rPr lang="en-US" b="1" dirty="0">
                <a:solidFill>
                  <a:srgbClr val="FFFFFF"/>
                </a:solidFill>
              </a:rPr>
              <a:t>), </a:t>
            </a:r>
            <a:r>
              <a:rPr lang="en-US" b="1" dirty="0" err="1">
                <a:solidFill>
                  <a:srgbClr val="FFFFFF"/>
                </a:solidFill>
              </a:rPr>
              <a:t>podržavajući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masovnu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obradu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podataka</a:t>
            </a:r>
            <a:r>
              <a:rPr lang="en-US" b="1" dirty="0">
                <a:solidFill>
                  <a:srgbClr val="FFFFFF"/>
                </a:solidFill>
              </a:rPr>
              <a:t>.</a:t>
            </a:r>
          </a:p>
          <a:p>
            <a:pPr marL="1257300" lvl="1" indent="-342900">
              <a:buFont typeface="Courier New" panose="020B0604020202020204" pitchFamily="34" charset="0"/>
              <a:buChar char="o"/>
            </a:pP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CCFC0-BFE7-D486-4CB2-00466441F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3A59B-F168-495B-2C5B-BC688F9F09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B1FDE9-1A2E-BCE5-A2A8-45754D923A0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262322-9201-1D1B-5DFC-A0FD8291E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3" y="1712685"/>
            <a:ext cx="4342796" cy="37229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1C5D16-3876-9997-E680-3A5DC61FF22B}"/>
              </a:ext>
            </a:extLst>
          </p:cNvPr>
          <p:cNvSpPr txBox="1"/>
          <p:nvPr/>
        </p:nvSpPr>
        <p:spPr>
          <a:xfrm>
            <a:off x="1185333" y="5556250"/>
            <a:ext cx="4126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Prozor</a:t>
            </a:r>
            <a:r>
              <a:rPr lang="en-US" b="1" dirty="0"/>
              <a:t> za </a:t>
            </a:r>
            <a:r>
              <a:rPr lang="en-US" b="1" dirty="0" err="1"/>
              <a:t>konfiguraciju</a:t>
            </a:r>
            <a:r>
              <a:rPr lang="en-US" b="1" dirty="0"/>
              <a:t> </a:t>
            </a:r>
            <a:r>
              <a:rPr lang="en-US" b="1" dirty="0" err="1"/>
              <a:t>modela</a:t>
            </a:r>
          </a:p>
        </p:txBody>
      </p:sp>
    </p:spTree>
    <p:extLst>
      <p:ext uri="{BB962C8B-B14F-4D97-AF65-F5344CB8AC3E}">
        <p14:creationId xmlns:p14="http://schemas.microsoft.com/office/powerpoint/2010/main" val="219923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B35F-9F05-C9D2-2641-BBEACEE08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141" y="766638"/>
            <a:ext cx="9613392" cy="2978026"/>
          </a:xfrm>
        </p:spPr>
        <p:txBody>
          <a:bodyPr>
            <a:normAutofit/>
          </a:bodyPr>
          <a:lstStyle/>
          <a:p>
            <a:pPr algn="ctr"/>
            <a:r>
              <a:rPr lang="en-US" sz="5500" b="1"/>
              <a:t>Dinamički </a:t>
            </a:r>
            <a:r>
              <a:rPr lang="en-US" sz="5500" b="1" err="1"/>
              <a:t>odziv</a:t>
            </a:r>
            <a:r>
              <a:rPr lang="en-US" sz="5500" b="1"/>
              <a:t> </a:t>
            </a:r>
            <a:r>
              <a:rPr lang="en-US" sz="5500" b="1" err="1"/>
              <a:t>sistema</a:t>
            </a:r>
            <a:r>
              <a:rPr lang="en-US" sz="5500" b="1"/>
              <a:t> za Case118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16215-F6D8-3635-1D7E-8E6D871E4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026" y="5189727"/>
            <a:ext cx="3897957" cy="684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/>
              <a:t>Ugaone</a:t>
            </a:r>
            <a:r>
              <a:rPr lang="en-US" b="1"/>
              <a:t> </a:t>
            </a:r>
            <a:r>
              <a:rPr lang="en-US" b="1" err="1"/>
              <a:t>brzine</a:t>
            </a:r>
            <a:r>
              <a:rPr lang="en-US" b="1"/>
              <a:t> </a:t>
            </a:r>
            <a:r>
              <a:rPr lang="en-US" b="1" err="1"/>
              <a:t>generatora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FD996-CFC1-942D-2D25-C355B38A6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BCED-C6DB-5228-6BFA-6B8C771F4D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0526FF-10A3-1CEF-4120-FB81DBBE8F2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46314E-AE2D-4A33-8142-C82361162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61" y="2108881"/>
            <a:ext cx="5149851" cy="3082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DF90A8-872D-A6D6-C672-CA31CFF0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82" y="2108653"/>
            <a:ext cx="5376183" cy="3090636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6861EC0-2CEF-011D-ECCB-87AF7F66A72E}"/>
              </a:ext>
            </a:extLst>
          </p:cNvPr>
          <p:cNvSpPr txBox="1">
            <a:spLocks/>
          </p:cNvSpPr>
          <p:nvPr/>
        </p:nvSpPr>
        <p:spPr>
          <a:xfrm>
            <a:off x="7641626" y="5189727"/>
            <a:ext cx="3897957" cy="6840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Mehaničke snage generatora</a:t>
            </a:r>
          </a:p>
        </p:txBody>
      </p:sp>
    </p:spTree>
    <p:extLst>
      <p:ext uri="{BB962C8B-B14F-4D97-AF65-F5344CB8AC3E}">
        <p14:creationId xmlns:p14="http://schemas.microsoft.com/office/powerpoint/2010/main" val="491561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49DEE3-1417-EC43-44BD-4DF1CAC6D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398" y="4464013"/>
            <a:ext cx="7272528" cy="684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Rotorski </a:t>
            </a:r>
            <a:r>
              <a:rPr lang="en-US" b="1" err="1"/>
              <a:t>uglovi</a:t>
            </a:r>
            <a:r>
              <a:rPr lang="en-US" b="1"/>
              <a:t> </a:t>
            </a:r>
            <a:r>
              <a:rPr lang="en-US" b="1" err="1"/>
              <a:t>generatora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9B29E-F2BB-E4E4-527C-356368DB8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CEFA0-AA85-B605-F376-5430B2AD09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D1A2D8-FEB3-3A49-3A62-8AF0F23389D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21F2EE-7C48-1EE1-6409-90AE2C18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0" y="1196748"/>
            <a:ext cx="5177518" cy="3107418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771FD232-A7AE-0ADA-A9A7-DBEDDBF16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59" y="1182898"/>
            <a:ext cx="5425169" cy="3265714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4E53B9C3-790E-46F3-EE7E-9A27C876B817}"/>
              </a:ext>
            </a:extLst>
          </p:cNvPr>
          <p:cNvSpPr txBox="1">
            <a:spLocks/>
          </p:cNvSpPr>
          <p:nvPr/>
        </p:nvSpPr>
        <p:spPr>
          <a:xfrm>
            <a:off x="7438427" y="4471270"/>
            <a:ext cx="3455271" cy="6840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err="1"/>
              <a:t>Naponi</a:t>
            </a:r>
            <a:r>
              <a:rPr lang="en-US" b="1"/>
              <a:t> </a:t>
            </a:r>
            <a:r>
              <a:rPr lang="en-US" b="1" err="1"/>
              <a:t>pojedinih</a:t>
            </a:r>
            <a:r>
              <a:rPr lang="en-US" b="1"/>
              <a:t> </a:t>
            </a:r>
            <a:r>
              <a:rPr lang="en-US" b="1" err="1"/>
              <a:t>čvorova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88615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5EBB-38F9-33FE-578A-E9D7A3CE1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260124"/>
            <a:ext cx="5302650" cy="1932998"/>
          </a:xfrm>
        </p:spPr>
        <p:txBody>
          <a:bodyPr>
            <a:normAutofit/>
          </a:bodyPr>
          <a:lstStyle/>
          <a:p>
            <a:r>
              <a:rPr lang="en-US" sz="6000" b="1" err="1"/>
              <a:t>Zaključak</a:t>
            </a:r>
            <a:endParaRPr lang="en-US" sz="60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880A8-D285-6DC4-7600-69164A062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141" y="2511841"/>
            <a:ext cx="9834299" cy="309342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buChar char="•"/>
            </a:pPr>
            <a:r>
              <a:rPr lang="en-US" b="1" err="1"/>
              <a:t>Uspješno</a:t>
            </a:r>
            <a:r>
              <a:rPr lang="en-US" b="1"/>
              <a:t> je </a:t>
            </a:r>
            <a:r>
              <a:rPr lang="en-US" b="1" err="1"/>
              <a:t>razvijen</a:t>
            </a:r>
            <a:r>
              <a:rPr lang="en-US" b="1"/>
              <a:t> </a:t>
            </a:r>
            <a:r>
              <a:rPr lang="en-US" b="1" err="1"/>
              <a:t>softverski</a:t>
            </a:r>
            <a:r>
              <a:rPr lang="en-US" b="1"/>
              <a:t> </a:t>
            </a:r>
            <a:r>
              <a:rPr lang="en-US" b="1" err="1"/>
              <a:t>algoritam</a:t>
            </a:r>
            <a:r>
              <a:rPr lang="en-US" b="1"/>
              <a:t> koji </a:t>
            </a:r>
            <a:r>
              <a:rPr lang="en-US" b="1" err="1"/>
              <a:t>povezuje</a:t>
            </a:r>
            <a:r>
              <a:rPr lang="en-US" b="1"/>
              <a:t> </a:t>
            </a:r>
            <a:r>
              <a:rPr lang="en-US" b="1" err="1"/>
              <a:t>statički</a:t>
            </a:r>
            <a:r>
              <a:rPr lang="en-US" b="1"/>
              <a:t> </a:t>
            </a:r>
            <a:r>
              <a:rPr lang="en-US" b="1" err="1"/>
              <a:t>proračun</a:t>
            </a:r>
            <a:r>
              <a:rPr lang="en-US" b="1"/>
              <a:t> </a:t>
            </a:r>
            <a:r>
              <a:rPr lang="en-US" b="1" err="1"/>
              <a:t>nelinearnih</a:t>
            </a:r>
            <a:r>
              <a:rPr lang="en-US" b="1"/>
              <a:t> </a:t>
            </a:r>
            <a:r>
              <a:rPr lang="en-US" b="1" err="1"/>
              <a:t>tokova</a:t>
            </a:r>
            <a:r>
              <a:rPr lang="en-US" b="1"/>
              <a:t> </a:t>
            </a:r>
            <a:r>
              <a:rPr lang="en-US" b="1" err="1"/>
              <a:t>snaga</a:t>
            </a:r>
            <a:r>
              <a:rPr lang="en-US" b="1"/>
              <a:t> u </a:t>
            </a:r>
            <a:r>
              <a:rPr lang="en-US" b="1" err="1"/>
              <a:t>pravougaonim</a:t>
            </a:r>
            <a:r>
              <a:rPr lang="en-US" b="1"/>
              <a:t> </a:t>
            </a:r>
            <a:r>
              <a:rPr lang="en-US" b="1" err="1"/>
              <a:t>koordinatama</a:t>
            </a:r>
            <a:r>
              <a:rPr lang="en-US" b="1"/>
              <a:t> </a:t>
            </a:r>
            <a:r>
              <a:rPr lang="en-US" b="1" err="1"/>
              <a:t>sa</a:t>
            </a:r>
            <a:r>
              <a:rPr lang="en-US" b="1"/>
              <a:t> </a:t>
            </a:r>
            <a:r>
              <a:rPr lang="en-US" b="1" err="1"/>
              <a:t>složenim</a:t>
            </a:r>
            <a:r>
              <a:rPr lang="en-US" b="1"/>
              <a:t> </a:t>
            </a:r>
            <a:r>
              <a:rPr lang="en-US" b="1" err="1"/>
              <a:t>dinamičkim</a:t>
            </a:r>
            <a:r>
              <a:rPr lang="en-US" b="1"/>
              <a:t> </a:t>
            </a:r>
            <a:r>
              <a:rPr lang="en-US" b="1" err="1"/>
              <a:t>modelima</a:t>
            </a:r>
            <a:r>
              <a:rPr lang="en-US" b="1"/>
              <a:t> </a:t>
            </a:r>
            <a:r>
              <a:rPr lang="en-US" b="1" err="1"/>
              <a:t>generatora</a:t>
            </a:r>
            <a:r>
              <a:rPr lang="en-US" b="1"/>
              <a:t>.</a:t>
            </a:r>
            <a:endParaRPr lang="en-US"/>
          </a:p>
          <a:p>
            <a:pPr marL="342900" indent="-342900">
              <a:buChar char="•"/>
            </a:pPr>
            <a:r>
              <a:rPr lang="en-US" b="1"/>
              <a:t>Kreirana GUI </a:t>
            </a:r>
            <a:r>
              <a:rPr lang="en-US" b="1" err="1"/>
              <a:t>aplikacija</a:t>
            </a:r>
            <a:r>
              <a:rPr lang="en-US" b="1"/>
              <a:t> u </a:t>
            </a:r>
            <a:r>
              <a:rPr lang="en-US" b="1" err="1"/>
              <a:t>potpunosti</a:t>
            </a:r>
            <a:r>
              <a:rPr lang="en-US" b="1"/>
              <a:t> </a:t>
            </a:r>
            <a:r>
              <a:rPr lang="en-US" b="1" err="1"/>
              <a:t>automatizuje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eliminiše</a:t>
            </a:r>
            <a:r>
              <a:rPr lang="en-US" b="1"/>
              <a:t> </a:t>
            </a:r>
            <a:r>
              <a:rPr lang="en-US" b="1" err="1"/>
              <a:t>manuelni</a:t>
            </a:r>
            <a:r>
              <a:rPr lang="en-US" b="1"/>
              <a:t> rad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formiranju</a:t>
            </a:r>
            <a:r>
              <a:rPr lang="en-US" b="1"/>
              <a:t> DAE </a:t>
            </a:r>
            <a:r>
              <a:rPr lang="en-US" b="1" err="1"/>
              <a:t>modela</a:t>
            </a:r>
            <a:r>
              <a:rPr lang="en-US" b="1"/>
              <a:t>, </a:t>
            </a:r>
            <a:r>
              <a:rPr lang="en-US" b="1" err="1"/>
              <a:t>čineći</a:t>
            </a:r>
            <a:r>
              <a:rPr lang="en-US" b="1"/>
              <a:t> </a:t>
            </a:r>
            <a:r>
              <a:rPr lang="en-US" b="1" err="1"/>
              <a:t>alat</a:t>
            </a:r>
            <a:r>
              <a:rPr lang="en-US" b="1"/>
              <a:t> </a:t>
            </a:r>
            <a:r>
              <a:rPr lang="en-US" b="1" err="1"/>
              <a:t>visoko</a:t>
            </a:r>
            <a:r>
              <a:rPr lang="en-US" b="1"/>
              <a:t> </a:t>
            </a:r>
            <a:r>
              <a:rPr lang="en-US" b="1" err="1"/>
              <a:t>skalabilnim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upotrebljivim</a:t>
            </a:r>
            <a:r>
              <a:rPr lang="en-US" b="1"/>
              <a:t> za </a:t>
            </a:r>
            <a:r>
              <a:rPr lang="en-US" b="1" err="1"/>
              <a:t>sisteme</a:t>
            </a:r>
            <a:r>
              <a:rPr lang="en-US" b="1"/>
              <a:t> </a:t>
            </a:r>
            <a:r>
              <a:rPr lang="en-US" b="1" err="1"/>
              <a:t>sa</a:t>
            </a:r>
            <a:r>
              <a:rPr lang="en-US" b="1"/>
              <a:t> </a:t>
            </a:r>
            <a:r>
              <a:rPr lang="en-US" b="1" err="1"/>
              <a:t>velikim</a:t>
            </a:r>
            <a:r>
              <a:rPr lang="en-US" b="1"/>
              <a:t> </a:t>
            </a:r>
            <a:r>
              <a:rPr lang="en-US" b="1" err="1"/>
              <a:t>brojem</a:t>
            </a:r>
            <a:r>
              <a:rPr lang="en-US" b="1"/>
              <a:t> </a:t>
            </a:r>
            <a:r>
              <a:rPr lang="en-US" b="1" err="1"/>
              <a:t>čvorova</a:t>
            </a:r>
            <a:r>
              <a:rPr lang="en-US" b="1"/>
              <a:t>.</a:t>
            </a:r>
            <a:endParaRPr lang="en-US"/>
          </a:p>
          <a:p>
            <a:pPr marL="342900" indent="-342900">
              <a:buChar char="•"/>
            </a:pPr>
            <a:r>
              <a:rPr lang="en-US" b="1"/>
              <a:t>Simulacioni </a:t>
            </a:r>
            <a:r>
              <a:rPr lang="en-US" b="1" err="1"/>
              <a:t>testovi</a:t>
            </a:r>
            <a:r>
              <a:rPr lang="en-US" b="1"/>
              <a:t> </a:t>
            </a:r>
            <a:r>
              <a:rPr lang="en-US" b="1" err="1"/>
              <a:t>sprovedeni</a:t>
            </a:r>
            <a:r>
              <a:rPr lang="en-US" b="1"/>
              <a:t> </a:t>
            </a:r>
            <a:r>
              <a:rPr lang="en-US" b="1" err="1"/>
              <a:t>na</a:t>
            </a:r>
            <a:r>
              <a:rPr lang="en-US" b="1"/>
              <a:t> Case118 </a:t>
            </a:r>
            <a:r>
              <a:rPr lang="en-US" b="1" err="1"/>
              <a:t>modelu</a:t>
            </a:r>
            <a:r>
              <a:rPr lang="en-US" b="1"/>
              <a:t> </a:t>
            </a:r>
            <a:r>
              <a:rPr lang="en-US" b="1" err="1"/>
              <a:t>daju</a:t>
            </a:r>
            <a:r>
              <a:rPr lang="en-US" b="1"/>
              <a:t> </a:t>
            </a:r>
            <a:r>
              <a:rPr lang="en-US" b="1" err="1"/>
              <a:t>fizički</a:t>
            </a:r>
            <a:r>
              <a:rPr lang="en-US" b="1"/>
              <a:t> </a:t>
            </a:r>
            <a:r>
              <a:rPr lang="en-US" b="1" err="1"/>
              <a:t>opravdane</a:t>
            </a:r>
            <a:r>
              <a:rPr lang="en-US" b="1"/>
              <a:t> </a:t>
            </a:r>
            <a:r>
              <a:rPr lang="en-US" b="1" err="1"/>
              <a:t>i</a:t>
            </a:r>
            <a:r>
              <a:rPr lang="en-US" b="1"/>
              <a:t> </a:t>
            </a:r>
            <a:r>
              <a:rPr lang="en-US" b="1" err="1"/>
              <a:t>tačne</a:t>
            </a:r>
            <a:r>
              <a:rPr lang="en-US" b="1"/>
              <a:t> </a:t>
            </a:r>
            <a:r>
              <a:rPr lang="en-US" b="1" err="1"/>
              <a:t>rezultate</a:t>
            </a:r>
            <a:r>
              <a:rPr lang="en-US" b="1"/>
              <a:t> koji </a:t>
            </a:r>
            <a:r>
              <a:rPr lang="en-US" b="1" err="1"/>
              <a:t>jasno</a:t>
            </a:r>
            <a:r>
              <a:rPr lang="en-US" b="1"/>
              <a:t> </a:t>
            </a:r>
            <a:r>
              <a:rPr lang="en-US" b="1" err="1"/>
              <a:t>demonstriraju</a:t>
            </a:r>
            <a:r>
              <a:rPr lang="en-US" b="1"/>
              <a:t> </a:t>
            </a:r>
            <a:r>
              <a:rPr lang="en-US" b="1" err="1"/>
              <a:t>uticaj</a:t>
            </a:r>
            <a:r>
              <a:rPr lang="en-US" b="1"/>
              <a:t> </a:t>
            </a:r>
            <a:r>
              <a:rPr lang="en-US" b="1" err="1"/>
              <a:t>inercijalnih</a:t>
            </a:r>
            <a:r>
              <a:rPr lang="en-US" b="1"/>
              <a:t> </a:t>
            </a:r>
            <a:r>
              <a:rPr lang="en-US" b="1" err="1"/>
              <a:t>konstanti</a:t>
            </a:r>
            <a:r>
              <a:rPr lang="en-US" b="1"/>
              <a:t>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stabilnost</a:t>
            </a:r>
            <a:r>
              <a:rPr lang="en-US" b="1"/>
              <a:t> </a:t>
            </a:r>
            <a:r>
              <a:rPr lang="en-US" b="1" err="1"/>
              <a:t>elektroenergetskog</a:t>
            </a:r>
            <a:r>
              <a:rPr lang="en-US" b="1"/>
              <a:t> </a:t>
            </a:r>
            <a:r>
              <a:rPr lang="en-US" b="1" err="1"/>
              <a:t>sistema</a:t>
            </a:r>
            <a:r>
              <a:rPr lang="en-US" b="1"/>
              <a:t>.</a:t>
            </a:r>
          </a:p>
          <a:p>
            <a:pPr marL="342900" indent="-342900">
              <a:buChar char="•"/>
            </a:pPr>
            <a:endParaRPr lang="en-US" b="1"/>
          </a:p>
          <a:p>
            <a:endParaRPr lang="en-US" b="1"/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0F4C6-19E4-7DF9-2036-B734A6F79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C13E9-30D9-AA09-63DD-130F5342BC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C720C2-81E9-CB93-B029-9093AF32B2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0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0A40-4406-842E-AD8B-807569928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169" y="1347210"/>
            <a:ext cx="9613392" cy="2978026"/>
          </a:xfrm>
        </p:spPr>
        <p:txBody>
          <a:bodyPr/>
          <a:lstStyle/>
          <a:p>
            <a:r>
              <a:rPr lang="en-US" b="1"/>
              <a:t>Hvala </a:t>
            </a:r>
            <a:r>
              <a:rPr lang="en-US" b="1" err="1"/>
              <a:t>na</a:t>
            </a:r>
            <a:r>
              <a:rPr lang="en-US" b="1"/>
              <a:t> </a:t>
            </a:r>
            <a:r>
              <a:rPr lang="en-US" b="1" err="1"/>
              <a:t>pažnji</a:t>
            </a:r>
            <a:r>
              <a:rPr lang="en-US" b="1"/>
              <a:t>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1D39D-D4F0-B419-E078-2E94A1D6D7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639FE-ED8F-5C0E-4166-AF335DCB1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CAF3DD-865B-4F9E-8AEE-28157E83B0D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EFE7D-9397-1E00-4D68-3419B967A7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7AF55D-EE35-58B0-C121-381CD7168B2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AEA953-F661-4DC3-A0D2-B373BF29D9D6}" type="datetime1">
              <a:rPr lang="en-US" smtClean="0"/>
              <a:t>7/6/2026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33594"/>
      </p:ext>
    </p:extLst>
  </p:cSld>
  <p:clrMapOvr>
    <a:masterClrMapping/>
  </p:clrMapOvr>
</p:sld>
</file>

<file path=ppt/theme/theme1.xml><?xml version="1.0" encoding="utf-8"?>
<a:theme xmlns:a="http://schemas.openxmlformats.org/drawingml/2006/main" name="Greener acres">
  <a:themeElements>
    <a:clrScheme name="Custom 74">
      <a:dk1>
        <a:srgbClr val="01463E"/>
      </a:dk1>
      <a:lt1>
        <a:sysClr val="window" lastClr="FFFFFF"/>
      </a:lt1>
      <a:dk2>
        <a:srgbClr val="000000"/>
      </a:dk2>
      <a:lt2>
        <a:srgbClr val="FFFFFF"/>
      </a:lt2>
      <a:accent1>
        <a:srgbClr val="88B1CA"/>
      </a:accent1>
      <a:accent2>
        <a:srgbClr val="E15544"/>
      </a:accent2>
      <a:accent3>
        <a:srgbClr val="E37A8B"/>
      </a:accent3>
      <a:accent4>
        <a:srgbClr val="8AB9A8"/>
      </a:accent4>
      <a:accent5>
        <a:srgbClr val="A28CD2"/>
      </a:accent5>
      <a:accent6>
        <a:srgbClr val="EBE1D8"/>
      </a:accent6>
      <a:hlink>
        <a:srgbClr val="467886"/>
      </a:hlink>
      <a:folHlink>
        <a:srgbClr val="96607D"/>
      </a:folHlink>
    </a:clrScheme>
    <a:fontScheme name="Custom 21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B-B01_Document_win32_LW_V6" id="{D7C51510-76B3-4E3E-B1F1-02C5966E46FE}" vid="{7A8C32E0-CE1D-4A5A-82D6-24B0B725BB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3C7AED-0012-46FA-9D94-32A94FCFC643}">
  <ds:schemaRefs>
    <ds:schemaRef ds:uri="http://schemas.microsoft.com/office/2006/documentManagement/types"/>
    <ds:schemaRef ds:uri="230e9df3-be65-4c73-a93b-d1236ebd677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16c05727-aa75-4e4a-9b5f-8a80a1165891"/>
    <ds:schemaRef ds:uri="http://schemas.microsoft.com/sharepoint/v3"/>
    <ds:schemaRef ds:uri="http://purl.org/dc/terms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D6024DA-9507-4F01-9AF0-08D44D86FA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4E715A-E89E-4D2B-BDA6-D6593AD9E0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Greener acres</vt:lpstr>
      <vt:lpstr>Amer Šabić</vt:lpstr>
      <vt:lpstr>Sadržaj</vt:lpstr>
      <vt:lpstr>Problem tokova snaga u EES-u</vt:lpstr>
      <vt:lpstr>Jednačine tokova snaga u pravougaonim koordinatama</vt:lpstr>
      <vt:lpstr>Dinamički model generatora</vt:lpstr>
      <vt:lpstr>Konstruisanje DAE modela u dTwin softveru</vt:lpstr>
      <vt:lpstr>GUI aplikacija</vt:lpstr>
      <vt:lpstr>Podešavanje I konfiguracija modela</vt:lpstr>
      <vt:lpstr>Dinamički odziv sistema za Case118</vt:lpstr>
      <vt:lpstr>PowerPoint Presentation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302</cp:revision>
  <dcterms:created xsi:type="dcterms:W3CDTF">2026-07-06T19:28:34Z</dcterms:created>
  <dcterms:modified xsi:type="dcterms:W3CDTF">2026-07-06T20:53:42Z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